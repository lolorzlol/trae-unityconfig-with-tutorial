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.svg" ContentType="image/svg+xml"/>
  <Override PartName="/ppt/media/image60.svg" ContentType="image/svg+xml"/>
  <Override PartName="/ppt/media/image62.svg" ContentType="image/svg+xml"/>
  <Override PartName="/ppt/media/image64.svg" ContentType="image/svg+xml"/>
  <Override PartName="/ppt/media/image66.svg" ContentType="image/svg+xml"/>
  <Override PartName="/ppt/media/image68.svg" ContentType="image/svg+xml"/>
  <Override PartName="/ppt/media/image70.svg" ContentType="image/svg+xml"/>
  <Override PartName="/ppt/media/image72.svg" ContentType="image/svg+xml"/>
  <Override PartName="/ppt/media/image74.svg" ContentType="image/svg+xml"/>
  <Override PartName="/ppt/media/image76.svg" ContentType="image/svg+xml"/>
  <Override PartName="/ppt/media/image78.svg" ContentType="image/svg+xml"/>
  <Override PartName="/ppt/media/image8.svg" ContentType="image/svg+xml"/>
  <Override PartName="/ppt/media/image80.svg" ContentType="image/svg+xml"/>
  <Override PartName="/ppt/media/image82.svg" ContentType="image/svg+xml"/>
  <Override PartName="/ppt/media/image84.svg" ContentType="image/svg+xml"/>
  <Override PartName="/ppt/media/image86.svg" ContentType="image/svg+xml"/>
  <Override PartName="/ppt/media/image88.svg" ContentType="image/svg+xml"/>
  <Override PartName="/ppt/media/image90.svg" ContentType="image/svg+xml"/>
  <Override PartName="/ppt/media/image9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参加本次关于AGENTS.md配置文件的教学分享。今天，我们将一起探讨一个能让AI从普通的聊天机器人，转变为专业、高效的编程伙伴的关键工具——AGENTS.md配置文件。我们将深入了解它是什么，为什么需要它，以及如何使用它来提升我们的工作效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今天分享的主要内容框架。我们将从基础概念出发，了解配置文件的必要性，然后深入其定义和用法，通过一个简单的例子快速上手，接着详细解析Anthropic的核心工作流规则，最后总结核心原则并进行问答环节。希望能帮助大家系统性地掌握这一工具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正式介绍AGENTS.md之前，我们先来思考一个问题：为什么我们需要这样一个配置文件？这源于AI模型的一个核心痛点——它没有长期记忆，每次对话都是一次全新的开始。这意味着，如果没有配置，我们每次都需要重复解释需求，得到的结果也可能不稳定，无法复用我们的经验。而有了配置文件，AI就能自动理解我们的项目规范，输出风格统一，并且能自动应用我们总结的最佳实践，这将极大地提升效率和可靠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那么，AGENTS.md到底是什么？简单来说，它是一个由AMP团队在今年5月提出的项目级配置文件，目的是统一各种AI Agent工具的规则。它具有很好的兼容性，支持多种主流AI模型。更重要的是，它的加载机制非常智能，优先读取项目根目录下的配置，如果找不到，才会去读取全局的默认配置，这保证了项目的独立性和灵活性。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理论说完了，我们来看一个最简单的例子，快速上手。假设我们的需求很简单，就是让AI只回复中文。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我们可以创建一个AGENTS.md文件，写入语言要求和代码风格的规则，然后将它放在项目的根目录下。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这样，当我们启动AI对话时，它就会自动读取这些规则，我们再也不需要每次都提醒它“请用中文回答”了。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接下来，我们深入了解Anthropic提出的核心工作流。首先是计划模式（Plan Mode）。这个模式的核心思想是，对于复杂任务，不要急于动手，而是先规划再执行。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大家请看上方的三个原则：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第一，非平凡任务先规划。当任务超过3个步骤或者需要做架构决策时，AI会自动进入计划模式。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第二，出问题就停下来。如果执行中遇到困难，它会停下来重新规划，而不是硬着头皮继续。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第三，详细规格输入。提供详细的说明能减少歧义，最好用编号步骤。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下方的流程图展示了这一过程：从任务输入开始，AI会分析复杂度。简单任务直接执行，而复杂任务则会进入Plan Mode，先写出详细计划，然后再执行。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工作流的第二个核心是子代理分工。为了让主代理保持专注和清晰，Anthropic的工作流会大量使用子代理。可以把主代理看作一个项目经理，它负责协调，而具体的任务，比如研究、代码审查、测试等，会交给不同的子代理去完成。这样一来，每个子代理都能专注于自己的任务，效率更高，也避免了主上下文变得过于复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工作流的第三个核心是自我改进循环。这是一个非常强大的特性。当用户纠正了AI的错误后，AI会将这个教训记录下来，并更新到配置文件中，生成新的规则来防止以后再犯类似的错误。然后它会验证改进的效果，并将这些经验应用到其他相关项目中。这个闭环让AI能够持续学习和迭代，变得越来越聪明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工作流，Anthropic还定义了一些核心规则。首先是“验证默认开启”，这意味着AI不会只给出一个结果就结束，它会主动验证结果的正确性，确保代码是可用的。其次是“优雅平衡”原则，AI会根据任务的复杂度来判断，对于复杂的改动会追求更优雅的解决方案，而对于简单的修复则不会过度设计，避免浪费时间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关于自主修复Bug和任务管理的规则。AI被赋予了主动修复Bug的能力，一旦发现问题，它会直接着手解决，而不是等待用户指示。在任务管理方面，它遵循一个六步流程，从规划、验证、实施，到解释、记录结果和教训，形成了一套完整的任务执行闭环，确保任务能够有条不紊地完成，并从中学习和成长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来总结一下AGENTS.md背后的核心原则。总的来说，就是三个词：简单、彻底、最小影响。简单优先，每个改动都力求简单；不要偷懒，要找到问题的根本原因并彻底解决；最小影响，确保我们的改动只涉及必要的内容，避免产生不必要的副作用。这些原则指导着AI的行为，使其成为一个可靠、高效的伙伴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好了，今天的分享就到这里。我们来简单回顾一下核心内容：AGENTS.md就像是AI的长期记忆和行为准则，通过标准化配置，让AI能够更好地适配我们的专业需求。Anthropic的工作流提供了一套从规划到改进的闭环，而核心原则则确保了AI行为的简单、彻底和最小影响。接下来是问答环节，大家有什么问题都可以提出来，我们一起交流探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image" Target="../media/image14.svg"/><Relationship Id="rId7" Type="http://schemas.openxmlformats.org/officeDocument/2006/relationships/image" Target="../media/image13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18.svg"/><Relationship Id="rId11" Type="http://schemas.openxmlformats.org/officeDocument/2006/relationships/image" Target="../media/image17.png"/><Relationship Id="rId10" Type="http://schemas.openxmlformats.org/officeDocument/2006/relationships/image" Target="../media/image16.svg"/><Relationship Id="rId1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22.svg"/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9.png"/><Relationship Id="rId8" Type="http://schemas.openxmlformats.org/officeDocument/2006/relationships/image" Target="../media/image28.svg"/><Relationship Id="rId7" Type="http://schemas.openxmlformats.org/officeDocument/2006/relationships/image" Target="../media/image27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Relationship Id="rId3" Type="http://schemas.openxmlformats.org/officeDocument/2006/relationships/image" Target="../media/image23.png"/><Relationship Id="rId2" Type="http://schemas.openxmlformats.org/officeDocument/2006/relationships/image" Target="../media/image10.svg"/><Relationship Id="rId14" Type="http://schemas.openxmlformats.org/officeDocument/2006/relationships/notesSlide" Target="../notesSlides/notesSlide4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32.svg"/><Relationship Id="rId11" Type="http://schemas.openxmlformats.org/officeDocument/2006/relationships/image" Target="../media/image31.png"/><Relationship Id="rId10" Type="http://schemas.openxmlformats.org/officeDocument/2006/relationships/image" Target="../media/image30.sv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2.svg"/><Relationship Id="rId1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36.svg"/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1.png"/><Relationship Id="rId8" Type="http://schemas.openxmlformats.org/officeDocument/2006/relationships/image" Target="../media/image40.svg"/><Relationship Id="rId7" Type="http://schemas.openxmlformats.org/officeDocument/2006/relationships/image" Target="../media/image3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38.svg"/><Relationship Id="rId3" Type="http://schemas.openxmlformats.org/officeDocument/2006/relationships/image" Target="../media/image37.png"/><Relationship Id="rId2" Type="http://schemas.openxmlformats.org/officeDocument/2006/relationships/image" Target="../media/image16.svg"/><Relationship Id="rId16" Type="http://schemas.openxmlformats.org/officeDocument/2006/relationships/notesSlide" Target="../notesSlides/notesSlide7.x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46.svg"/><Relationship Id="rId13" Type="http://schemas.openxmlformats.org/officeDocument/2006/relationships/image" Target="../media/image45.png"/><Relationship Id="rId12" Type="http://schemas.openxmlformats.org/officeDocument/2006/relationships/image" Target="../media/image44.svg"/><Relationship Id="rId11" Type="http://schemas.openxmlformats.org/officeDocument/2006/relationships/image" Target="../media/image43.png"/><Relationship Id="rId10" Type="http://schemas.openxmlformats.org/officeDocument/2006/relationships/image" Target="../media/image42.svg"/><Relationship Id="rId1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png"/><Relationship Id="rId8" Type="http://schemas.openxmlformats.org/officeDocument/2006/relationships/image" Target="../media/image54.svg"/><Relationship Id="rId7" Type="http://schemas.openxmlformats.org/officeDocument/2006/relationships/image" Target="../media/image53.png"/><Relationship Id="rId6" Type="http://schemas.openxmlformats.org/officeDocument/2006/relationships/image" Target="../media/image52.svg"/><Relationship Id="rId5" Type="http://schemas.openxmlformats.org/officeDocument/2006/relationships/image" Target="../media/image51.png"/><Relationship Id="rId4" Type="http://schemas.openxmlformats.org/officeDocument/2006/relationships/image" Target="../media/image50.svg"/><Relationship Id="rId3" Type="http://schemas.openxmlformats.org/officeDocument/2006/relationships/image" Target="../media/image49.png"/><Relationship Id="rId2" Type="http://schemas.openxmlformats.org/officeDocument/2006/relationships/image" Target="../media/image48.svg"/><Relationship Id="rId14" Type="http://schemas.openxmlformats.org/officeDocument/2006/relationships/notesSlide" Target="../notesSlides/notesSlide8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14.svg"/><Relationship Id="rId11" Type="http://schemas.openxmlformats.org/officeDocument/2006/relationships/image" Target="../media/image13.png"/><Relationship Id="rId10" Type="http://schemas.openxmlformats.org/officeDocument/2006/relationships/image" Target="../media/image22.svg"/><Relationship Id="rId1" Type="http://schemas.openxmlformats.org/officeDocument/2006/relationships/image" Target="../media/image4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58.svg"/><Relationship Id="rId3" Type="http://schemas.openxmlformats.org/officeDocument/2006/relationships/image" Target="../media/image57.png"/><Relationship Id="rId2" Type="http://schemas.openxmlformats.org/officeDocument/2006/relationships/image" Target="../media/image56.svg"/><Relationship Id="rId1" Type="http://schemas.openxmlformats.org/officeDocument/2006/relationships/image" Target="../media/image55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65.png"/><Relationship Id="rId8" Type="http://schemas.openxmlformats.org/officeDocument/2006/relationships/image" Target="../media/image64.svg"/><Relationship Id="rId7" Type="http://schemas.openxmlformats.org/officeDocument/2006/relationships/image" Target="../media/image63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62.svg"/><Relationship Id="rId3" Type="http://schemas.openxmlformats.org/officeDocument/2006/relationships/image" Target="../media/image61.png"/><Relationship Id="rId22" Type="http://schemas.openxmlformats.org/officeDocument/2006/relationships/notesSlide" Target="../notesSlides/notesSlide10.xml"/><Relationship Id="rId21" Type="http://schemas.openxmlformats.org/officeDocument/2006/relationships/slideLayout" Target="../slideLayouts/slideLayout12.xml"/><Relationship Id="rId20" Type="http://schemas.openxmlformats.org/officeDocument/2006/relationships/image" Target="../media/image76.svg"/><Relationship Id="rId2" Type="http://schemas.openxmlformats.org/officeDocument/2006/relationships/image" Target="../media/image60.svg"/><Relationship Id="rId19" Type="http://schemas.openxmlformats.org/officeDocument/2006/relationships/image" Target="../media/image75.png"/><Relationship Id="rId18" Type="http://schemas.openxmlformats.org/officeDocument/2006/relationships/image" Target="../media/image74.svg"/><Relationship Id="rId17" Type="http://schemas.openxmlformats.org/officeDocument/2006/relationships/image" Target="../media/image73.png"/><Relationship Id="rId16" Type="http://schemas.openxmlformats.org/officeDocument/2006/relationships/image" Target="../media/image72.svg"/><Relationship Id="rId15" Type="http://schemas.openxmlformats.org/officeDocument/2006/relationships/image" Target="../media/image71.png"/><Relationship Id="rId14" Type="http://schemas.openxmlformats.org/officeDocument/2006/relationships/image" Target="../media/image70.svg"/><Relationship Id="rId13" Type="http://schemas.openxmlformats.org/officeDocument/2006/relationships/image" Target="../media/image69.png"/><Relationship Id="rId12" Type="http://schemas.openxmlformats.org/officeDocument/2006/relationships/image" Target="../media/image68.svg"/><Relationship Id="rId11" Type="http://schemas.openxmlformats.org/officeDocument/2006/relationships/image" Target="../media/image67.png"/><Relationship Id="rId10" Type="http://schemas.openxmlformats.org/officeDocument/2006/relationships/image" Target="../media/image66.svg"/><Relationship Id="rId1" Type="http://schemas.openxmlformats.org/officeDocument/2006/relationships/image" Target="../media/image59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84.svg"/><Relationship Id="rId7" Type="http://schemas.openxmlformats.org/officeDocument/2006/relationships/image" Target="../media/image83.png"/><Relationship Id="rId6" Type="http://schemas.openxmlformats.org/officeDocument/2006/relationships/image" Target="../media/image82.svg"/><Relationship Id="rId5" Type="http://schemas.openxmlformats.org/officeDocument/2006/relationships/image" Target="../media/image81.png"/><Relationship Id="rId4" Type="http://schemas.openxmlformats.org/officeDocument/2006/relationships/image" Target="../media/image80.svg"/><Relationship Id="rId3" Type="http://schemas.openxmlformats.org/officeDocument/2006/relationships/image" Target="../media/image79.png"/><Relationship Id="rId2" Type="http://schemas.openxmlformats.org/officeDocument/2006/relationships/image" Target="../media/image78.svg"/><Relationship Id="rId10" Type="http://schemas.openxmlformats.org/officeDocument/2006/relationships/notesSlide" Target="../notesSlides/notesSlide11.xml"/><Relationship Id="rId1" Type="http://schemas.openxmlformats.org/officeDocument/2006/relationships/image" Target="../media/image77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89.png"/><Relationship Id="rId8" Type="http://schemas.openxmlformats.org/officeDocument/2006/relationships/image" Target="../media/image56.svg"/><Relationship Id="rId7" Type="http://schemas.openxmlformats.org/officeDocument/2006/relationships/image" Target="../media/image55.png"/><Relationship Id="rId6" Type="http://schemas.openxmlformats.org/officeDocument/2006/relationships/image" Target="../media/image88.svg"/><Relationship Id="rId5" Type="http://schemas.openxmlformats.org/officeDocument/2006/relationships/image" Target="../media/image87.png"/><Relationship Id="rId4" Type="http://schemas.openxmlformats.org/officeDocument/2006/relationships/image" Target="../media/image86.svg"/><Relationship Id="rId3" Type="http://schemas.openxmlformats.org/officeDocument/2006/relationships/image" Target="../media/image85.png"/><Relationship Id="rId2" Type="http://schemas.openxmlformats.org/officeDocument/2006/relationships/image" Target="../media/image10.svg"/><Relationship Id="rId15" Type="http://schemas.openxmlformats.org/officeDocument/2006/relationships/notesSlide" Target="../notesSlides/notesSlide12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93.png"/><Relationship Id="rId12" Type="http://schemas.openxmlformats.org/officeDocument/2006/relationships/image" Target="../media/image92.svg"/><Relationship Id="rId11" Type="http://schemas.openxmlformats.org/officeDocument/2006/relationships/image" Target="../media/image91.png"/><Relationship Id="rId10" Type="http://schemas.openxmlformats.org/officeDocument/2006/relationships/image" Target="../media/image90.svg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635000" y="-635000"/>
            <a:ext cx="2540000" cy="2540000"/>
          </a:xfrm>
          <a:prstGeom prst="ellipse">
            <a:avLst/>
          </a:prstGeom>
          <a:solidFill>
            <a:srgbClr val="4A90E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9652000" y="4318000"/>
            <a:ext cx="3810000" cy="3810000"/>
          </a:xfrm>
          <a:prstGeom prst="ellipse">
            <a:avLst/>
          </a:prstGeom>
          <a:solidFill>
            <a:srgbClr val="003366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89600" y="1016000"/>
            <a:ext cx="812800" cy="812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736600" y="2032000"/>
            <a:ext cx="10731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AGENTS.md配置文件全解析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17188">
            <a:off x="4826016" y="27876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A90E2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/>
          <p:nvPr/>
        </p:nvSpPr>
        <p:spPr>
          <a:xfrm>
            <a:off x="1016000" y="3048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4A90E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从“聊天机器人”到“专业编程伙伴”的蜕变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826000" y="5334000"/>
            <a:ext cx="2540000" cy="508000"/>
          </a:xfrm>
          <a:prstGeom prst="roundRect">
            <a:avLst>
              <a:gd name="adj" fmla="val 25000"/>
            </a:avLst>
          </a:prstGeom>
          <a:solidFill>
            <a:srgbClr val="003366">
              <a:alpha val="5000"/>
            </a:srgbClr>
          </a:solidFill>
          <a:ln cap="flat" cmpd="sng">
            <a:solidFill>
              <a:srgbClr val="00264D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826000" y="5435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B9B9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AMP团队 · 2025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76000" y="508000"/>
            <a:ext cx="304800" cy="304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1200" y="6045200"/>
            <a:ext cx="3048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0584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762000" cy="508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3366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905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1841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为什么需要？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4130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探讨配置文件的必要性与价值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1651000"/>
            <a:ext cx="3302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3366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9000" y="1905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207000" y="1841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是什么？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99000" y="24130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定义与核心概念解析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128000" y="1651000"/>
            <a:ext cx="3302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3366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1905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890000" y="1841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快速上手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82000" y="24130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最简示例演示与操作指南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3429000"/>
            <a:ext cx="3302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3366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36830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524000" y="3619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核心工作流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016000" y="41910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Anthropic编排规则详解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445000" y="3429000"/>
            <a:ext cx="3302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3366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99000" y="3683000"/>
            <a:ext cx="406400" cy="406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5207000" y="3619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05. 原则与实践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699000" y="41910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最佳实践与落地建议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128000" y="3429000"/>
            <a:ext cx="3302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3366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82000" y="3683000"/>
            <a:ext cx="406400" cy="4064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8890000" y="3619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06. Q&amp;A &amp; 总结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382000" y="41910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互动问答与课程总结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0" y="6350000"/>
            <a:ext cx="12192000" cy="508000"/>
          </a:xfrm>
          <a:prstGeom prst="roundRect">
            <a:avLst>
              <a:gd name="adj" fmla="val 0"/>
            </a:avLst>
          </a:prstGeom>
          <a:solidFill>
            <a:srgbClr val="0033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762000" y="64516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AGENTS.MD 技术分享系列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4521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为什么需要配置文件？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4572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3366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778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核心痛点：AI模型的“先天不足”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2860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AI模型缺乏长期记忆，每次对话都是一次全新的开始，导致沟通成本高、结果不可控。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3175000"/>
            <a:ext cx="1905000" cy="1016000"/>
          </a:xfrm>
          <a:prstGeom prst="roundRect">
            <a:avLst>
              <a:gd name="adj" fmla="val 6250"/>
            </a:avLst>
          </a:prstGeom>
          <a:solidFill>
            <a:srgbClr val="F2F3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3302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3276600"/>
            <a:ext cx="127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无配置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143000" y="3683000"/>
            <a:ext cx="1651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B9B9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重复解释需求</a:t>
            </a:r>
            <a:br>
              <a:rPr lang="en-US" sz="1200" b="0" i="0" u="none" strike="noStrike">
                <a:solidFill>
                  <a:srgbClr val="9B9B9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9B9B9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结果不可预测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048000" y="3175000"/>
            <a:ext cx="1905000" cy="1016000"/>
          </a:xfrm>
          <a:prstGeom prst="roundRect">
            <a:avLst>
              <a:gd name="adj" fmla="val 6250"/>
            </a:avLst>
          </a:prstGeom>
          <a:solidFill>
            <a:srgbClr val="EBF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75000" y="3302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3556000" y="3276600"/>
            <a:ext cx="127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有配置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175000" y="3683000"/>
            <a:ext cx="1651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B9B9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理解项目规范</a:t>
            </a:r>
            <a:br>
              <a:rPr lang="en-US" sz="1200" b="0" i="0" u="none" strike="noStrike">
                <a:solidFill>
                  <a:srgbClr val="9B9B9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9B9B9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自动复用经验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715000" y="1524000"/>
            <a:ext cx="5715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3366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5969000" y="17780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效能对比：无配置 vs 有配置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969000" y="2286000"/>
            <a:ext cx="5207000" cy="457200"/>
          </a:xfrm>
          <a:prstGeom prst="roundRect">
            <a:avLst>
              <a:gd name="adj" fmla="val 0"/>
            </a:avLst>
          </a:prstGeom>
          <a:solidFill>
            <a:srgbClr val="003366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5969000" y="2362200"/>
            <a:ext cx="127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维度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239000" y="23622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没有配置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144000" y="23622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A90E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有配置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5969000" y="2870200"/>
            <a:ext cx="127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需求理解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239000" y="28702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每次重新解释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144000" y="28702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自动匹配项目规范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8384">
            <a:off x="5969008" y="3244850"/>
            <a:ext cx="520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5969000" y="3378200"/>
            <a:ext cx="127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输出稳定性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239000" y="33782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结果不可预测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9144000" y="33782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风格统一、可预期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-8384">
            <a:off x="5969008" y="3752850"/>
            <a:ext cx="520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5969000" y="3886200"/>
            <a:ext cx="127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经验复用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239000" y="38862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无法复用经验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9144000" y="38862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自动应用最佳实践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762000" y="5207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003366">
              <a:alpha val="3000"/>
            </a:srgbClr>
          </a:solidFill>
          <a:ln w="12700" cap="flat" cmpd="sng">
            <a:solidFill>
              <a:srgbClr val="4A90E2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461000"/>
            <a:ext cx="406400" cy="4064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1524000" y="5397500"/>
            <a:ext cx="965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通过配置文件，我们将一次性的“对话”转化为可复用的“知识库”，让AI成为团队的长期助手，而非一次性的工具。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5029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AGENTS.md是什么？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905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cap="flat" cmpd="sng">
            <a:solidFill>
              <a:srgbClr val="E6CFCF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3366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159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74800" y="2095500"/>
            <a:ext cx="4013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核心定义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574800" y="2476500"/>
            <a:ext cx="4013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由AMP团队于2025年5月提出，旨在统一分散的Agent工具规则，规范AI协作流程。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3655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cap="flat" cmpd="sng">
            <a:solidFill>
              <a:srgbClr val="E6CFCF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3366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6195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74800" y="3556000"/>
            <a:ext cx="4013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跨平台支持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574800" y="3937000"/>
            <a:ext cx="4013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完美适配 OpenAI Codex、Anthropic Claude、Google Gemini CLI 等主流 AI 模型。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4826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cap="flat" cmpd="sng">
            <a:solidFill>
              <a:srgbClr val="E6CFCF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3366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080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74800" y="5016500"/>
            <a:ext cx="4013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项目级配置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574800" y="5397500"/>
            <a:ext cx="4013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放置在项目根目录，工具可自动识别并加载，确保项目配置的独立性。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50000" y="1905000"/>
            <a:ext cx="5080000" cy="4191000"/>
          </a:xfrm>
          <a:prstGeom prst="roundRect">
            <a:avLst>
              <a:gd name="adj" fmla="val 3030"/>
            </a:avLst>
          </a:prstGeom>
          <a:solidFill>
            <a:srgbClr val="FFFFFF">
              <a:alpha val="100000"/>
            </a:srgbClr>
          </a:solidFill>
          <a:ln cap="flat" cmpd="sng">
            <a:solidFill>
              <a:srgbClr val="E6CFCF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3366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604000" y="2159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加载机制优先级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858000" y="2794000"/>
            <a:ext cx="4064000" cy="762000"/>
          </a:xfrm>
          <a:prstGeom prst="roundRect">
            <a:avLst>
              <a:gd name="adj" fmla="val 16666"/>
            </a:avLst>
          </a:prstGeom>
          <a:solidFill>
            <a:srgbClr val="4A90E2">
              <a:alpha val="10000"/>
            </a:srgbClr>
          </a:solidFill>
          <a:ln w="12700" cap="flat" cmpd="sng">
            <a:solidFill>
              <a:srgbClr val="4A90E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48500" y="29718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556500" y="2895600"/>
            <a:ext cx="3175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项目根目录 (优先)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./AGENTS.md</a:t>
            </a:r>
            <a:endParaRPr lang="en-US" sz="12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699500" y="3683000"/>
            <a:ext cx="381000" cy="381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858000" y="4191000"/>
            <a:ext cx="4064000" cy="762000"/>
          </a:xfrm>
          <a:prstGeom prst="roundRect">
            <a:avLst>
              <a:gd name="adj" fmla="val 16666"/>
            </a:avLst>
          </a:prstGeom>
          <a:solidFill>
            <a:srgbClr val="9B9B9B">
              <a:alpha val="10000"/>
            </a:srgbClr>
          </a:solidFill>
          <a:ln w="12700" cap="flat" cmpd="sng">
            <a:solidFill>
              <a:srgbClr val="9B9B9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048500" y="4368800"/>
            <a:ext cx="406400" cy="406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556500" y="4292600"/>
            <a:ext cx="3175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全局 Fallback (兜底)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9B9B9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~/.trae-cn/</a:t>
            </a:r>
            <a:endParaRPr lang="en-US" sz="1200" b="0" i="0" u="none" strike="noStrike">
              <a:solidFill>
                <a:srgbClr val="9B9B9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6604000" y="52070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系统会优先查找项目根目录配置，若不存在则回退到全局默认配置。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快速上手——最简AGENTS.md示例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207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3366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5207000" cy="457200"/>
          </a:xfrm>
          <a:prstGeom prst="roundRect">
            <a:avLst>
              <a:gd name="adj" fmla="val 27777"/>
            </a:avLst>
          </a:prstGeom>
          <a:solidFill>
            <a:srgbClr val="F0F2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4478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AGENTS.md (项目规范)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1968500"/>
            <a:ext cx="4826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9B9B9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# 项目规范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9B9B9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## 语言要求</a:t>
            </a:r>
            <a:endParaRPr lang="en-US" sz="1300" b="0" i="0" u="none" strike="noStrike">
              <a:solidFill>
                <a:srgbClr val="9B9B9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 所有回复必须使用中文</a:t>
            </a:r>
            <a:endParaRPr lang="en-US" sz="1300" b="0" i="0" u="none" strike="noStrike">
              <a:solidFill>
                <a:srgbClr val="0033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 代码注释使用中文</a:t>
            </a:r>
            <a:endParaRPr lang="en-US" sz="1300" b="0" i="0" u="none" strike="noStrike">
              <a:solidFill>
                <a:srgbClr val="0033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 变量命名可使用英文，但需在注释中说明含义</a:t>
            </a:r>
            <a:endParaRPr lang="en-US" sz="1300" b="0" i="0" u="none" strike="noStrike">
              <a:solidFill>
                <a:srgbClr val="0033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9B9B9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## 代码风格</a:t>
            </a:r>
            <a:endParaRPr lang="en-US" sz="1300" b="0" i="0" u="none" strike="noStrike">
              <a:solidFill>
                <a:srgbClr val="9B9B9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 使用4空格缩进</a:t>
            </a:r>
            <a:endParaRPr lang="en-US" sz="1300" b="0" i="0" u="none" strike="noStrike">
              <a:solidFill>
                <a:srgbClr val="0033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 函数必须有文档字符串</a:t>
            </a:r>
            <a:endParaRPr lang="en-US" sz="1300" b="0" i="0" u="none" strike="noStrike">
              <a:solidFill>
                <a:srgbClr val="0033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223000" y="1397000"/>
            <a:ext cx="5207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3366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223000" y="1397000"/>
            <a:ext cx="5207000" cy="457200"/>
          </a:xfrm>
          <a:prstGeom prst="roundRect">
            <a:avLst>
              <a:gd name="adj" fmla="val 27777"/>
            </a:avLst>
          </a:prstGeom>
          <a:solidFill>
            <a:srgbClr val="F0F2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413500" y="14478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项目目录结构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413500" y="1968500"/>
            <a:ext cx="4826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my-project/</a:t>
            </a:r>
            <a:endParaRPr lang="en-US" sz="1100"/>
          </a:p>
          <a:p>
            <a:pPr marL="25400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4A90E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├── AGENTS.md</a:t>
            </a:r>
            <a:r>
              <a:rPr lang="en-US" sz="1200" b="0" i="0" u="none" strike="noStrike">
                <a:solidFill>
                  <a:srgbClr val="9B9B9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← 核心配置文件</a:t>
            </a:r>
            <a:endParaRPr lang="en-US" sz="1200" b="0" i="0" u="none" strike="noStrike">
              <a:solidFill>
                <a:srgbClr val="9B9B9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5400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├── src/</a:t>
            </a:r>
            <a:endParaRPr lang="en-US" sz="1400" b="0" i="0" u="none" strike="noStrike">
              <a:solidFill>
                <a:srgbClr val="0033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5400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├── tests/</a:t>
            </a:r>
            <a:endParaRPr lang="en-US" sz="1400" b="0" i="0" u="none" strike="noStrike">
              <a:solidFill>
                <a:srgbClr val="0033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5400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└── README.md</a:t>
            </a:r>
            <a:endParaRPr lang="en-US" sz="1400" b="0" i="0" u="none" strike="noStrike">
              <a:solidFill>
                <a:srgbClr val="0033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4699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4A90E2">
              <a:alpha val="10000"/>
            </a:srgbClr>
          </a:solidFill>
          <a:ln w="12700" cap="flat" cmpd="sng">
            <a:solidFill>
              <a:srgbClr val="4A90E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50800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651000" y="4889500"/>
            <a:ext cx="889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效果验证：自动化执行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651000" y="5334000"/>
            <a:ext cx="889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启动AI对话，自动读取规则，无需重复说明。从此告别每次都提醒“请用中文回答”。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058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Anthropic核心工作流——Plan Mode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3302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3366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5875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549400"/>
            <a:ext cx="228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非平凡任务先规划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032000"/>
            <a:ext cx="2794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3个以上步骤或涉及架构决策的任务，必须先进入计划模式。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445000" y="1397000"/>
            <a:ext cx="3302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3366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9000" y="15875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207000" y="1549400"/>
            <a:ext cx="228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出问题就停下来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99000" y="2032000"/>
            <a:ext cx="2794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遇到困难不硬撑，停下来重新规划路径。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128000" y="1397000"/>
            <a:ext cx="3302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3366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1587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890000" y="1549400"/>
            <a:ext cx="228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详细规格输入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82000" y="2032000"/>
            <a:ext cx="2794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提供详细的规格说明，减少歧义，最好用编号步骤。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3175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执行流程示意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3683000"/>
            <a:ext cx="10668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1016000" y="3937000"/>
            <a:ext cx="1270000" cy="635000"/>
          </a:xfrm>
          <a:prstGeom prst="roundRect">
            <a:avLst>
              <a:gd name="adj" fmla="val 40000"/>
            </a:avLst>
          </a:prstGeom>
          <a:solidFill>
            <a:srgbClr val="0033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任务输入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85925">
            <a:off x="2413079" y="42481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B9B9B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id="19" name="AutoShape 19"/>
          <p:cNvSpPr/>
          <p:nvPr/>
        </p:nvSpPr>
        <p:spPr>
          <a:xfrm>
            <a:off x="3048000" y="3937000"/>
            <a:ext cx="1524000" cy="635000"/>
          </a:xfrm>
          <a:prstGeom prst="roundRect">
            <a:avLst>
              <a:gd name="adj" fmla="val 40000"/>
            </a:avLst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分析复杂度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85925">
            <a:off x="4699079" y="39306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B9B9B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cxnSp>
        <p:nvCxnSpPr>
          <p:cNvPr id="21" name="Connector 21"/>
          <p:cNvCxnSpPr/>
          <p:nvPr/>
        </p:nvCxnSpPr>
        <p:spPr>
          <a:xfrm rot="-85925">
            <a:off x="4699079" y="45656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B9B9B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id="22" name="AutoShape 22"/>
          <p:cNvSpPr/>
          <p:nvPr/>
        </p:nvSpPr>
        <p:spPr>
          <a:xfrm>
            <a:off x="5334000" y="37465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EBF5FF">
              <a:alpha val="100000"/>
            </a:srgbClr>
          </a:solidFill>
          <a:ln w="12700" cap="flat" cmpd="sng">
            <a:solidFill>
              <a:srgbClr val="4A90E2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简单任务直接执行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5334000" y="43815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FFF5EB">
              <a:alpha val="100000"/>
            </a:srgbClr>
          </a:solidFill>
          <a:ln w="12700" cap="flat" cmpd="sng">
            <a:solidFill>
              <a:srgbClr val="F59E0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4530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复杂任务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85925">
            <a:off x="6985079" y="46291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B9B9B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id="25" name="AutoShape 25"/>
          <p:cNvSpPr/>
          <p:nvPr/>
        </p:nvSpPr>
        <p:spPr>
          <a:xfrm>
            <a:off x="7620000" y="4381500"/>
            <a:ext cx="1397000" cy="508000"/>
          </a:xfrm>
          <a:prstGeom prst="roundRect">
            <a:avLst>
              <a:gd name="adj" fmla="val 50000"/>
            </a:avLst>
          </a:prstGeom>
          <a:solidFill>
            <a:srgbClr val="0033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进入Plan Mode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114549">
            <a:off x="9144106" y="46291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B9B9B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id="27" name="AutoShape 27"/>
          <p:cNvSpPr/>
          <p:nvPr/>
        </p:nvSpPr>
        <p:spPr>
          <a:xfrm>
            <a:off x="9652000" y="4381500"/>
            <a:ext cx="1016000" cy="508000"/>
          </a:xfrm>
          <a:prstGeom prst="roundRect">
            <a:avLst>
              <a:gd name="adj" fmla="val 50000"/>
            </a:avLst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写计划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-114549">
            <a:off x="10668106" y="46291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B9B9B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id="29" name="AutoShape 29"/>
          <p:cNvSpPr/>
          <p:nvPr/>
        </p:nvSpPr>
        <p:spPr>
          <a:xfrm>
            <a:off x="11049000" y="4381500"/>
            <a:ext cx="381000" cy="508000"/>
          </a:xfrm>
          <a:prstGeom prst="roundRect">
            <a:avLst>
              <a:gd name="adj" fmla="val 66666"/>
            </a:avLst>
          </a:prstGeom>
          <a:solidFill>
            <a:srgbClr val="27AE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GO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905256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Anthropic核心工作流——子代理分工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3302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3366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5875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5494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上下文隔离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032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大量使用子代理，保持主上下文干净、清晰，避免信息过载。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445000" y="1397000"/>
            <a:ext cx="3302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3366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9000" y="15875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207000" y="15494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单一职责原则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99000" y="2032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一个任务分配一个子代理，确保每个子代理专注于执行单一任务。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128000" y="1397000"/>
            <a:ext cx="3302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3366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1587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890000" y="15494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复杂任务外包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82000" y="2032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将研究、探索、并行分析等耗时任务外包给子代理，提升效率。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3175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分工协作架构示意图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826000" y="3683000"/>
            <a:ext cx="2540000" cy="762000"/>
          </a:xfrm>
          <a:prstGeom prst="roundRect">
            <a:avLst>
              <a:gd name="adj" fmla="val 33333"/>
            </a:avLst>
          </a:prstGeom>
          <a:solidFill>
            <a:srgbClr val="003366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03366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16500" y="38608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5461000" y="3784600"/>
            <a:ext cx="177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 Agent (协调者)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10262161">
            <a:off x="2774564" y="4692652"/>
            <a:ext cx="334084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B9B9B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cxnSp>
        <p:nvCxnSpPr>
          <p:cNvPr id="20" name="Connector 20"/>
          <p:cNvCxnSpPr/>
          <p:nvPr/>
        </p:nvCxnSpPr>
        <p:spPr>
          <a:xfrm rot="5314074">
            <a:off x="5842000" y="4692729"/>
            <a:ext cx="50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B9B9B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cxnSp>
        <p:nvCxnSpPr>
          <p:cNvPr id="21" name="Connector 21"/>
          <p:cNvCxnSpPr/>
          <p:nvPr/>
        </p:nvCxnSpPr>
        <p:spPr>
          <a:xfrm rot="511701">
            <a:off x="6076588" y="4692652"/>
            <a:ext cx="334084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B9B9B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id="22" name="AutoShape 22"/>
          <p:cNvSpPr/>
          <p:nvPr/>
        </p:nvSpPr>
        <p:spPr>
          <a:xfrm>
            <a:off x="1524000" y="4953000"/>
            <a:ext cx="2540000" cy="762000"/>
          </a:xfrm>
          <a:prstGeom prst="roundRect">
            <a:avLst>
              <a:gd name="adj" fmla="val 33333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4A90E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714500" y="5130800"/>
            <a:ext cx="406400" cy="4064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2159000" y="5054600"/>
            <a:ext cx="177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子Agent 1 (研究)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4826000" y="4953000"/>
            <a:ext cx="2540000" cy="762000"/>
          </a:xfrm>
          <a:prstGeom prst="roundRect">
            <a:avLst>
              <a:gd name="adj" fmla="val 33333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4A90E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016500" y="5130800"/>
            <a:ext cx="406400" cy="4064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5461000" y="5054600"/>
            <a:ext cx="177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子Agent 2 (代码审查)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128000" y="4953000"/>
            <a:ext cx="2540000" cy="762000"/>
          </a:xfrm>
          <a:prstGeom prst="roundRect">
            <a:avLst>
              <a:gd name="adj" fmla="val 33333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4A90E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318500" y="5130800"/>
            <a:ext cx="406400" cy="4064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8763000" y="5054600"/>
            <a:ext cx="177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子Agent 3 (测试)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56132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Anthropic核心工作流——自我改进循环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508000"/>
          </a:xfrm>
          <a:prstGeom prst="roundRect">
            <a:avLst>
              <a:gd name="adj" fmla="val 25000"/>
            </a:avLst>
          </a:prstGeom>
          <a:solidFill>
            <a:srgbClr val="4A90E2">
              <a:alpha val="10000"/>
            </a:srgbClr>
          </a:solidFill>
          <a:ln w="12700" cap="flat" cmpd="sng">
            <a:solidFill>
              <a:srgbClr val="4A90E2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核心价值：让AI持续迭代，从错误中学习，避免重复踩坑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1905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3366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33500" y="2222500"/>
            <a:ext cx="762000" cy="762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762000" y="3048000"/>
            <a:ext cx="190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用户纠正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9B9B9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发现并指出错误</a:t>
            </a:r>
            <a:endParaRPr lang="en-US" sz="1200" b="0" i="0" u="none" strike="noStrike">
              <a:solidFill>
                <a:srgbClr val="9B9B9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30500" y="2794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3111500" y="2032000"/>
            <a:ext cx="1905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3366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83000" y="2222500"/>
            <a:ext cx="762000" cy="762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3111500" y="3048000"/>
            <a:ext cx="190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更新文档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9B9B9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记录教训与案例</a:t>
            </a:r>
            <a:endParaRPr lang="en-US" sz="1200" b="0" i="0" u="none" strike="noStrike">
              <a:solidFill>
                <a:srgbClr val="9B9B9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80000" y="2794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461000" y="2032000"/>
            <a:ext cx="1905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3366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32500" y="2222500"/>
            <a:ext cx="762000" cy="762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461000" y="3048000"/>
            <a:ext cx="190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制定规则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9B9B9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防止重复错误</a:t>
            </a:r>
            <a:endParaRPr lang="en-US" sz="1200" b="0" i="0" u="none" strike="noStrike">
              <a:solidFill>
                <a:srgbClr val="9B9B9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29500" y="27940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810500" y="2032000"/>
            <a:ext cx="1905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3366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382000" y="2222500"/>
            <a:ext cx="762000" cy="762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810500" y="3048000"/>
            <a:ext cx="190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验证效果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9B9B9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测试改进有效性</a:t>
            </a:r>
            <a:endParaRPr lang="en-US" sz="1200" b="0" i="0" u="none" strike="noStrike">
              <a:solidFill>
                <a:srgbClr val="9B9B9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79000" y="27940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0160000" y="2032000"/>
            <a:ext cx="1905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3366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31500" y="2222500"/>
            <a:ext cx="762000" cy="762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0160000" y="3048000"/>
            <a:ext cx="190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应用推广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9B9B9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扩展到相关项目</a:t>
            </a:r>
            <a:endParaRPr lang="en-US" sz="1200" b="0" i="0" u="none" strike="noStrike">
              <a:solidFill>
                <a:srgbClr val="9B9B9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762000" y="4318000"/>
            <a:ext cx="10668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1016000" y="4445000"/>
            <a:ext cx="1016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自我改进循环机制解析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是一个持续迭代的闭环过程。当用户纠正AI的错误后，系统会自动将这些教训记录到配置文件中，并生成新的规则以防止未来重复犯错。通过不断的验证和应用，AI能够像人类一样“吃一堑长一智”，逐步提升准确性和可靠性。</a:t>
            </a:r>
            <a:endParaRPr lang="en-US" sz="14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90551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Anthropic核心规则——验证&amp;优雅性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3366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651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6002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规则1：验证默认开启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222500"/>
            <a:ext cx="4572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03200" indent="-203200" algn="l">
              <a:lnSpc>
                <a:spcPct val="108000"/>
              </a:lnSpc>
              <a:buClr>
                <a:srgbClr val="333333"/>
              </a:buClr>
              <a:buChar char="•"/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证明能用才算完成：</a:t>
            </a:r>
            <a:r>
              <a:rPr lang="en-US" sz="16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拒绝猜测，必须确保代码正确性。</a:t>
            </a:r>
            <a:endParaRPr lang="en-US" sz="1100"/>
          </a:p>
          <a:p>
            <a:pPr marL="203200" indent="-203200" algn="l">
              <a:lnSpc>
                <a:spcPct val="108000"/>
              </a:lnSpc>
              <a:buClr>
                <a:srgbClr val="333333"/>
              </a:buClr>
              <a:buChar char="•"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高级工程师标准自检：</a:t>
            </a:r>
            <a:r>
              <a:rPr lang="en-US" sz="16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对比主分支与改动，严格审视逻辑。</a:t>
            </a:r>
            <a:endParaRPr lang="en-US" sz="16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03200" indent="-203200" algn="l">
              <a:lnSpc>
                <a:spcPct val="108000"/>
              </a:lnSpc>
              <a:buClr>
                <a:srgbClr val="333333"/>
              </a:buClr>
              <a:buChar char="•"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主动补充验证：</a:t>
            </a:r>
            <a:r>
              <a:rPr lang="en-US" sz="16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添加断言、日志或测试套件，建立完整的验证闭环。</a:t>
            </a:r>
            <a:endParaRPr lang="en-US" sz="16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350000" y="1397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3366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0" y="1651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112000" y="16002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规则2：优雅平衡原则</a:t>
            </a:r>
            <a:endParaRPr lang="en-US" sz="1100"/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604000" y="2222500"/>
          <a:ext cx="4572000" cy="2413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397000"/>
                <a:gridCol w="3175000"/>
              </a:tblGrid>
              <a:tr h="508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336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场景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90E2">
                        <a:alpha val="1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336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行动指南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90E2">
                        <a:alpha val="10000"/>
                      </a:srgbClr>
                    </a:solidFill>
                  </a:tcPr>
                </a:tc>
              </a:tr>
              <a:tr h="635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非平凡改动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66666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暂停思考：“有没有更优雅的方式？”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35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补丁式修复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66666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“既然了解全貌，实现一个优雅的方案”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35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简单明显修复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66666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跳过，不要过度工程化，避免浪费时间。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AutoShape 11"/>
          <p:cNvSpPr/>
          <p:nvPr/>
        </p:nvSpPr>
        <p:spPr>
          <a:xfrm>
            <a:off x="762000" y="5207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4A90E2">
              <a:alpha val="10000"/>
            </a:srgbClr>
          </a:solidFill>
          <a:ln w="12700" cap="flat" cmpd="sng">
            <a:solidFill>
              <a:srgbClr val="4A90E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4610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651000" y="5334000"/>
            <a:ext cx="952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不仅追求代码的正确性（验证），更注重代码的质量与维护性（优雅），在效率与完美之间寻找最佳平衡点。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Anthropic核心规则——自主修Bug&amp;任务管理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080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3366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587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自主修复 Bug 原则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095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20574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发现即修复：</a:t>
            </a: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发现问题直接解决，无需等待用户指示。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7305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26924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主动定位：</a:t>
            </a: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分析日志、错误信息或失败测试，主动寻找根因。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365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97000" y="33274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CI 自动修复：</a:t>
            </a: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自动修复 CI 失败的测试，减少上下文切换。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350000" y="1397000"/>
            <a:ext cx="5080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3366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604000" y="1587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任务管理 6 步流程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604000" y="2095500"/>
            <a:ext cx="2286000" cy="635000"/>
          </a:xfrm>
          <a:prstGeom prst="roundRect">
            <a:avLst>
              <a:gd name="adj" fmla="val 10000"/>
            </a:avLst>
          </a:prstGeom>
          <a:solidFill>
            <a:srgbClr val="4A90E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31000" y="22606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112000" y="2133600"/>
            <a:ext cx="165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规划优先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写计划到 tasks/todo.md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9017000" y="2095500"/>
            <a:ext cx="2286000" cy="635000"/>
          </a:xfrm>
          <a:prstGeom prst="roundRect">
            <a:avLst>
              <a:gd name="adj" fmla="val 10000"/>
            </a:avLst>
          </a:prstGeom>
          <a:solidFill>
            <a:srgbClr val="4A90E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144000" y="22606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9525000" y="2133600"/>
            <a:ext cx="165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验证计划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确认计划合理性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604000" y="2857500"/>
            <a:ext cx="2286000" cy="635000"/>
          </a:xfrm>
          <a:prstGeom prst="roundRect">
            <a:avLst>
              <a:gd name="adj" fmla="val 10000"/>
            </a:avLst>
          </a:prstGeom>
          <a:solidFill>
            <a:srgbClr val="4A90E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731000" y="30226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112000" y="2895600"/>
            <a:ext cx="165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增量实施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步步为营，清晰追踪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9017000" y="2857500"/>
            <a:ext cx="2286000" cy="635000"/>
          </a:xfrm>
          <a:prstGeom prst="roundRect">
            <a:avLst>
              <a:gd name="adj" fmla="val 10000"/>
            </a:avLst>
          </a:prstGeom>
          <a:solidFill>
            <a:srgbClr val="4A90E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144000" y="30226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9525000" y="2895600"/>
            <a:ext cx="165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4. 解释变更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提供高层总结说明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6604000" y="3619500"/>
            <a:ext cx="2286000" cy="635000"/>
          </a:xfrm>
          <a:prstGeom prst="roundRect">
            <a:avLst>
              <a:gd name="adj" fmla="val 10000"/>
            </a:avLst>
          </a:prstGeom>
          <a:solidFill>
            <a:srgbClr val="4A90E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731000" y="3784600"/>
            <a:ext cx="304800" cy="3048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7112000" y="3657600"/>
            <a:ext cx="165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5. 记录结果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添加 Review 部分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9017000" y="3619500"/>
            <a:ext cx="2286000" cy="635000"/>
          </a:xfrm>
          <a:prstGeom prst="roundRect">
            <a:avLst>
              <a:gd name="adj" fmla="val 10000"/>
            </a:avLst>
          </a:prstGeom>
          <a:solidFill>
            <a:srgbClr val="4A90E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144000" y="3784600"/>
            <a:ext cx="304800" cy="3048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9525000" y="3657600"/>
            <a:ext cx="165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6. 记录教训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更新 lessons.md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762000" y="4953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0033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16000" y="5270500"/>
            <a:ext cx="609600" cy="6096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1778000" y="5143500"/>
            <a:ext cx="939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核心价值：构建闭环与自我进化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通过主动修复机制减少阻碍，利用六步管理法确保任务有序推进与经验沉淀，实现系统的持续优化与自我提升。</a:t>
            </a:r>
            <a:endParaRPr lang="en-US" sz="1400" b="0" i="0" u="none" strike="noStrike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301752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核心原则总结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905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3366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159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21336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Simplicity first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6670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每个改动尽可能简单，影响最小代码，避免过度设计。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445000" y="1905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3366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9000" y="2159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207000" y="21336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Don't be lazy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99000" y="26670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找根本原因，不用创可贴，按高级工程师标准解决问题。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128000" y="1905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3366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2159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890000" y="21336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Minimal impact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82000" y="26670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改动只涉及必要内容，避免不必要的影响，确保稳定性。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4572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4A90E2">
              <a:alpha val="10000"/>
            </a:srgbClr>
          </a:solidFill>
          <a:ln w="12700" cap="flat" cmpd="sng">
            <a:solidFill>
              <a:srgbClr val="4A90E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48768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524000" y="4762500"/>
            <a:ext cx="965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核心目标：</a:t>
            </a:r>
            <a:r>
              <a:rPr lang="en-US" sz="1800" b="1" i="0" u="none" strike="noStrike">
                <a:solidFill>
                  <a:srgbClr val="4A90E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简单</a:t>
            </a:r>
            <a:r>
              <a:rPr lang="en-US" sz="1800" b="0" i="0" u="none" strike="noStrike">
                <a:solidFill>
                  <a:srgbClr val="9B9B9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</a:t>
            </a:r>
            <a:r>
              <a:rPr lang="en-US" sz="1800" b="1" i="0" u="none" strike="noStrike">
                <a:solidFill>
                  <a:srgbClr val="4A90E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彻底</a:t>
            </a:r>
            <a:r>
              <a:rPr lang="en-US" sz="1800" b="0" i="0" u="none" strike="noStrike">
                <a:solidFill>
                  <a:srgbClr val="9B9B9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</a:t>
            </a:r>
            <a:r>
              <a:rPr lang="en-US" sz="1800" b="1" i="0" u="none" strike="noStrike">
                <a:solidFill>
                  <a:srgbClr val="4A90E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最小影响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355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 &amp; Q&amp;A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06500"/>
            <a:ext cx="762000" cy="508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3366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9304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14500" y="1778000"/>
            <a:ext cx="4064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AGENTS.md 核心定义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55F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不仅是文档，更是AI Agent的“长期记忆”与“行为准则”。</a:t>
            </a:r>
            <a:endParaRPr lang="en-US" sz="1400" b="0" i="0" u="none" strike="noStrike">
              <a:solidFill>
                <a:srgbClr val="555F6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2857500"/>
            <a:ext cx="5207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3366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1369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714500" y="2984500"/>
            <a:ext cx="4064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标准化配置升级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55F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推动AI从“通用聊天”向“专业适配”转变，提升业务价值。</a:t>
            </a:r>
            <a:endParaRPr lang="en-US" sz="1400" b="0" i="0" u="none" strike="noStrike">
              <a:solidFill>
                <a:srgbClr val="555F6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4064000"/>
            <a:ext cx="5207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3366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343400"/>
            <a:ext cx="508000" cy="508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714500" y="4191000"/>
            <a:ext cx="4064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Anthropic 闭环工作流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55F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规划 → 分工 → 验证 → 改进，形成高效闭环。</a:t>
            </a:r>
            <a:endParaRPr lang="en-US" sz="1400" b="0" i="0" u="none" strike="noStrike">
              <a:solidFill>
                <a:srgbClr val="555F6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5270500"/>
            <a:ext cx="5207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3366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5549900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714500" y="5397500"/>
            <a:ext cx="4064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三大核心原则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55F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坚持简单优先、彻底解决问题、最小影响原则。</a:t>
            </a:r>
            <a:endParaRPr lang="en-US" sz="1400" b="0" i="0" u="none" strike="noStrike">
              <a:solidFill>
                <a:srgbClr val="555F6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350000" y="1651000"/>
            <a:ext cx="4953000" cy="4699000"/>
          </a:xfrm>
          <a:prstGeom prst="roundRect">
            <a:avLst>
              <a:gd name="adj" fmla="val 270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190500" dist="50800" dir="5400000" algn="tl" rotWithShape="0">
              <a:srgbClr val="003366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604000" y="1905000"/>
            <a:ext cx="444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互动交流环节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9822">
            <a:off x="6604009" y="25336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" name="Picture 1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4000" y="2794000"/>
            <a:ext cx="812800" cy="812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620000" y="2794000"/>
            <a:ext cx="3429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欢迎提出您的疑问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604000" y="3810000"/>
            <a:ext cx="4445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555F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我们将针对今天分享的内容进行深入探讨。无论是关于技术细节、应用场景还是未来规划，都欢迎大家畅所欲言。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604000" y="5334000"/>
            <a:ext cx="4445000" cy="762000"/>
          </a:xfrm>
          <a:prstGeom prst="roundRect">
            <a:avLst>
              <a:gd name="adj" fmla="val 16666"/>
            </a:avLst>
          </a:prstGeom>
          <a:solidFill>
            <a:srgbClr val="4A90E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794500" y="5524500"/>
            <a:ext cx="381000" cy="3810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7302500" y="54610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如需演示特定功能，请随时告知</a:t>
            </a:r>
            <a:endParaRPr lang="en-US" sz="1100"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2386</Words>
  <Application>WPS 演示</Application>
  <PresentationFormat/>
  <Paragraphs>300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landscape</cp:lastModifiedBy>
  <cp:revision>1</cp:revision>
  <dcterms:created xsi:type="dcterms:W3CDTF">2026-03-17T05:37:01Z</dcterms:created>
  <dcterms:modified xsi:type="dcterms:W3CDTF">2026-03-17T05:37:01Z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9D5605678CB44363B116A22B45EB325B_12</vt:lpwstr>
  </property>
  <property fmtid="{D5CDD505-2E9C-101B-9397-08002B2CF9AE}" pid="3" name="KSOProductBuildVer">
    <vt:lpwstr>2052-12.1.0.25225</vt:lpwstr>
  </property>
</Properties>
</file>