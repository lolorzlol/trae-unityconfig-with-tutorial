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36.svg" ContentType="image/svg+xml"/>
  <Override PartName="/ppt/media/image38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  <p:sldMasterId id="2147483662" r:id="rId4"/>
  </p:sldMasterIdLst>
  <p:notesMasterIdLst>
    <p:notesMasterId r:id="rId6"/>
  </p:notesMasterIdLst>
  <p:sldIdLst>
    <p:sldId id="256" r:id="rId5"/>
    <p:sldId id="257" r:id="rId7"/>
    <p:sldId id="258" r:id="rId8"/>
    <p:sldId id="259" r:id="rId9"/>
    <p:sldId id="260" r:id="rId10"/>
    <p:sldId id="261" r:id="rId11"/>
    <p:sldId id="262" r:id="rId1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4" userDrawn="1">
          <p15:clr>
            <a:srgbClr val="747775"/>
          </p15:clr>
        </p15:guide>
        <p15:guide id="2" pos="292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4"/>
        <p:guide pos="292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大家好，欢迎来到今天的课程——Vibe/Agentic Coding入门与实战。在这个AI飞速发展的时代，掌握AI辅助编程的能力变得至关重要。本课程将带大家了解如何利用AI工具提升开发效率，并掌握核心的AI配置技能，这些技能不仅能应用于编程，还能适配动画、数媒等多个领域，最终成为大家在求职和未来发展中的核心竞争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那么，我们为什么要学习Vibe/Agentic Coding呢？首先，它具有极强的跨场景适用性，无论是动画、数媒还是开发专业，都能找到应用场景。其次，它能显著提升我们的工作效率，将我们从繁琐重复的任务中解放出来，专注于更有创造性的工作。最后，掌握这项技能在求职市场上是一个巨大的加分项，能让你在众多竞争者中脱颖而出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课程将分为四周进行。第一周，我们会从Trae这个核心工具的基本使用开始，让大家快速上手。第二周，我们将学习AGENT和skill的组合使用，这是实现AI辅助的核心能力。第三周，我们会探索mcp和插件，扩展AI的功能边界。最后一周，我们会介绍敏捷开发的理念，将AI辅助开发融入到规范的工程化流程中。请大家记住，我们的核心原则是理解概念而非机械操作，最终目标是让大家能够独立配置自己的专属AI工具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市面上有很多AI编码工具，我们该如何选择呢？我们的原则是优先选择有免费模型的工具，其次考虑功能的易用性。这张表格对比了主流的几款工具，包括Trae、Qwen Code、Opencode和Claude。大家可以看到它们各自的优缺点。对于我们的入门学习，我强烈推荐大家使用Trae，它不仅免费模型多、性能强，而且非常容易上手，能帮助我们快速建立信心。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让大家能够低成本地开始学习，这里为大家整理了一些可以获得免费额度的平台。比如阿里百炼、硅基流动、智谱和Minimax，它们都为新用户提供了免费的使用额度，有些甚至提供了永久免费的小模型。建议大家课后就去领取这些额度，动手尝试一下，完成工具的首次上手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课程中，我们将以Unity作为核心的实践载体。为什么选择Unity呢？首先，从行业应用来看，在小团队和独立游戏开发领域，Unity的普及度非常高。其次，从技术门槛考虑，如果选择UE，我们需要额外学习UE的C++，而蓝图又几乎无法与AI结合，这会大大增加学习难度。最后，我们课程的核心内容，除了个别特定功能外，与使用什么引擎关系不大，选择Unity可以让我们更快地聚焦于AI辅助开发本身，降低入门门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课程中，我们将以Unity作为核心的实践载体。为什么选择Unity呢？首先，从行业应用来看，在小团队和独立游戏开发领域，Unity的普及度非常高。其次，从技术门槛考虑，如果选择UE，我们需要额外学习UE的C++，而蓝图又几乎无法与AI结合，这会大大增加学习难度。最后，我们课程的核心内容，除了个别特定功能外，与使用什么引擎关系不大，选择Unity可以让我们更快地聚焦于AI辅助开发本身，降低入门门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6" Type="http://schemas.openxmlformats.org/officeDocument/2006/relationships/notesSlide" Target="../notesSlides/notesSlide2.xml"/><Relationship Id="rId25" Type="http://schemas.openxmlformats.org/officeDocument/2006/relationships/slideLayout" Target="../slideLayouts/slideLayout12.xml"/><Relationship Id="rId24" Type="http://schemas.openxmlformats.org/officeDocument/2006/relationships/tags" Target="../tags/tag18.xml"/><Relationship Id="rId23" Type="http://schemas.openxmlformats.org/officeDocument/2006/relationships/tags" Target="../tags/tag17.xml"/><Relationship Id="rId22" Type="http://schemas.openxmlformats.org/officeDocument/2006/relationships/image" Target="../media/image10.svg"/><Relationship Id="rId21" Type="http://schemas.openxmlformats.org/officeDocument/2006/relationships/image" Target="../media/image9.png"/><Relationship Id="rId20" Type="http://schemas.openxmlformats.org/officeDocument/2006/relationships/tags" Target="../tags/tag16.xml"/><Relationship Id="rId2" Type="http://schemas.openxmlformats.org/officeDocument/2006/relationships/tags" Target="../tags/tag2.xml"/><Relationship Id="rId19" Type="http://schemas.openxmlformats.org/officeDocument/2006/relationships/tags" Target="../tags/tag15.xml"/><Relationship Id="rId18" Type="http://schemas.openxmlformats.org/officeDocument/2006/relationships/tags" Target="../tags/tag14.xml"/><Relationship Id="rId17" Type="http://schemas.openxmlformats.org/officeDocument/2006/relationships/tags" Target="../tags/tag13.xml"/><Relationship Id="rId16" Type="http://schemas.openxmlformats.org/officeDocument/2006/relationships/tags" Target="../tags/tag12.xml"/><Relationship Id="rId15" Type="http://schemas.openxmlformats.org/officeDocument/2006/relationships/tags" Target="../tags/tag11.xml"/><Relationship Id="rId14" Type="http://schemas.openxmlformats.org/officeDocument/2006/relationships/image" Target="../media/image8.svg"/><Relationship Id="rId13" Type="http://schemas.openxmlformats.org/officeDocument/2006/relationships/image" Target="../media/image7.png"/><Relationship Id="rId12" Type="http://schemas.openxmlformats.org/officeDocument/2006/relationships/tags" Target="../tags/tag10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.svg"/><Relationship Id="rId8" Type="http://schemas.openxmlformats.org/officeDocument/2006/relationships/image" Target="../media/image13.png"/><Relationship Id="rId7" Type="http://schemas.openxmlformats.org/officeDocument/2006/relationships/tags" Target="../tags/tag23.xml"/><Relationship Id="rId6" Type="http://schemas.openxmlformats.org/officeDocument/2006/relationships/tags" Target="../tags/tag22.xml"/><Relationship Id="rId5" Type="http://schemas.openxmlformats.org/officeDocument/2006/relationships/tags" Target="../tags/tag21.xml"/><Relationship Id="rId4" Type="http://schemas.openxmlformats.org/officeDocument/2006/relationships/image" Target="../media/image12.svg"/><Relationship Id="rId3" Type="http://schemas.openxmlformats.org/officeDocument/2006/relationships/image" Target="../media/image11.png"/><Relationship Id="rId24" Type="http://schemas.openxmlformats.org/officeDocument/2006/relationships/notesSlide" Target="../notesSlides/notesSlide3.xml"/><Relationship Id="rId23" Type="http://schemas.openxmlformats.org/officeDocument/2006/relationships/slideLayout" Target="../slideLayouts/slideLayout12.xml"/><Relationship Id="rId22" Type="http://schemas.openxmlformats.org/officeDocument/2006/relationships/image" Target="../media/image20.svg"/><Relationship Id="rId21" Type="http://schemas.openxmlformats.org/officeDocument/2006/relationships/image" Target="../media/image19.png"/><Relationship Id="rId20" Type="http://schemas.openxmlformats.org/officeDocument/2006/relationships/tags" Target="../tags/tag30.xml"/><Relationship Id="rId2" Type="http://schemas.openxmlformats.org/officeDocument/2006/relationships/tags" Target="../tags/tag20.xml"/><Relationship Id="rId19" Type="http://schemas.openxmlformats.org/officeDocument/2006/relationships/image" Target="../media/image18.svg"/><Relationship Id="rId18" Type="http://schemas.openxmlformats.org/officeDocument/2006/relationships/image" Target="../media/image17.png"/><Relationship Id="rId17" Type="http://schemas.openxmlformats.org/officeDocument/2006/relationships/tags" Target="../tags/tag29.xml"/><Relationship Id="rId16" Type="http://schemas.openxmlformats.org/officeDocument/2006/relationships/tags" Target="../tags/tag28.xml"/><Relationship Id="rId15" Type="http://schemas.openxmlformats.org/officeDocument/2006/relationships/tags" Target="../tags/tag27.xml"/><Relationship Id="rId14" Type="http://schemas.openxmlformats.org/officeDocument/2006/relationships/image" Target="../media/image16.svg"/><Relationship Id="rId13" Type="http://schemas.openxmlformats.org/officeDocument/2006/relationships/image" Target="../media/image15.png"/><Relationship Id="rId12" Type="http://schemas.openxmlformats.org/officeDocument/2006/relationships/tags" Target="../tags/tag26.xml"/><Relationship Id="rId11" Type="http://schemas.openxmlformats.org/officeDocument/2006/relationships/tags" Target="../tags/tag25.xml"/><Relationship Id="rId10" Type="http://schemas.openxmlformats.org/officeDocument/2006/relationships/tags" Target="../tags/tag24.xml"/><Relationship Id="rId1" Type="http://schemas.openxmlformats.org/officeDocument/2006/relationships/tags" Target="../tags/tag19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2.svg"/><Relationship Id="rId1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26.svg"/><Relationship Id="rId8" Type="http://schemas.openxmlformats.org/officeDocument/2006/relationships/image" Target="../media/image25.png"/><Relationship Id="rId7" Type="http://schemas.openxmlformats.org/officeDocument/2006/relationships/tags" Target="../tags/tag35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image" Target="../media/image24.svg"/><Relationship Id="rId3" Type="http://schemas.openxmlformats.org/officeDocument/2006/relationships/image" Target="../media/image23.png"/><Relationship Id="rId24" Type="http://schemas.openxmlformats.org/officeDocument/2006/relationships/notesSlide" Target="../notesSlides/notesSlide5.xml"/><Relationship Id="rId23" Type="http://schemas.openxmlformats.org/officeDocument/2006/relationships/slideLayout" Target="../slideLayouts/slideLayout12.xml"/><Relationship Id="rId22" Type="http://schemas.openxmlformats.org/officeDocument/2006/relationships/image" Target="../media/image32.svg"/><Relationship Id="rId21" Type="http://schemas.openxmlformats.org/officeDocument/2006/relationships/image" Target="../media/image31.png"/><Relationship Id="rId20" Type="http://schemas.openxmlformats.org/officeDocument/2006/relationships/tags" Target="../tags/tag42.xml"/><Relationship Id="rId2" Type="http://schemas.openxmlformats.org/officeDocument/2006/relationships/tags" Target="../tags/tag32.xml"/><Relationship Id="rId19" Type="http://schemas.openxmlformats.org/officeDocument/2006/relationships/image" Target="../media/image30.svg"/><Relationship Id="rId18" Type="http://schemas.openxmlformats.org/officeDocument/2006/relationships/image" Target="../media/image29.png"/><Relationship Id="rId17" Type="http://schemas.openxmlformats.org/officeDocument/2006/relationships/tags" Target="../tags/tag41.xml"/><Relationship Id="rId16" Type="http://schemas.openxmlformats.org/officeDocument/2006/relationships/tags" Target="../tags/tag40.xml"/><Relationship Id="rId15" Type="http://schemas.openxmlformats.org/officeDocument/2006/relationships/tags" Target="../tags/tag39.xml"/><Relationship Id="rId14" Type="http://schemas.openxmlformats.org/officeDocument/2006/relationships/image" Target="../media/image28.svg"/><Relationship Id="rId13" Type="http://schemas.openxmlformats.org/officeDocument/2006/relationships/image" Target="../media/image27.png"/><Relationship Id="rId12" Type="http://schemas.openxmlformats.org/officeDocument/2006/relationships/tags" Target="../tags/tag38.xml"/><Relationship Id="rId11" Type="http://schemas.openxmlformats.org/officeDocument/2006/relationships/tags" Target="../tags/tag37.xml"/><Relationship Id="rId10" Type="http://schemas.openxmlformats.org/officeDocument/2006/relationships/tags" Target="../tags/tag36.xml"/><Relationship Id="rId1" Type="http://schemas.openxmlformats.org/officeDocument/2006/relationships/tags" Target="../tags/tag31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49.xml"/><Relationship Id="rId8" Type="http://schemas.openxmlformats.org/officeDocument/2006/relationships/tags" Target="../tags/tag48.xml"/><Relationship Id="rId7" Type="http://schemas.openxmlformats.org/officeDocument/2006/relationships/tags" Target="../tags/tag47.xml"/><Relationship Id="rId6" Type="http://schemas.openxmlformats.org/officeDocument/2006/relationships/tags" Target="../tags/tag46.xml"/><Relationship Id="rId5" Type="http://schemas.openxmlformats.org/officeDocument/2006/relationships/image" Target="../media/image34.svg"/><Relationship Id="rId4" Type="http://schemas.openxmlformats.org/officeDocument/2006/relationships/image" Target="../media/image33.png"/><Relationship Id="rId3" Type="http://schemas.openxmlformats.org/officeDocument/2006/relationships/tags" Target="../tags/tag45.xml"/><Relationship Id="rId23" Type="http://schemas.openxmlformats.org/officeDocument/2006/relationships/notesSlide" Target="../notesSlides/notesSlide6.xml"/><Relationship Id="rId22" Type="http://schemas.openxmlformats.org/officeDocument/2006/relationships/slideLayout" Target="../slideLayouts/slideLayout12.xml"/><Relationship Id="rId21" Type="http://schemas.openxmlformats.org/officeDocument/2006/relationships/tags" Target="../tags/tag57.xml"/><Relationship Id="rId20" Type="http://schemas.openxmlformats.org/officeDocument/2006/relationships/tags" Target="../tags/tag56.xml"/><Relationship Id="rId2" Type="http://schemas.openxmlformats.org/officeDocument/2006/relationships/tags" Target="../tags/tag44.xml"/><Relationship Id="rId19" Type="http://schemas.openxmlformats.org/officeDocument/2006/relationships/image" Target="../media/image38.svg"/><Relationship Id="rId18" Type="http://schemas.openxmlformats.org/officeDocument/2006/relationships/image" Target="../media/image37.png"/><Relationship Id="rId17" Type="http://schemas.openxmlformats.org/officeDocument/2006/relationships/tags" Target="../tags/tag55.xml"/><Relationship Id="rId16" Type="http://schemas.openxmlformats.org/officeDocument/2006/relationships/tags" Target="../tags/tag54.xml"/><Relationship Id="rId15" Type="http://schemas.openxmlformats.org/officeDocument/2006/relationships/tags" Target="../tags/tag53.xml"/><Relationship Id="rId14" Type="http://schemas.openxmlformats.org/officeDocument/2006/relationships/tags" Target="../tags/tag52.xml"/><Relationship Id="rId13" Type="http://schemas.openxmlformats.org/officeDocument/2006/relationships/tags" Target="../tags/tag51.xml"/><Relationship Id="rId12" Type="http://schemas.openxmlformats.org/officeDocument/2006/relationships/image" Target="../media/image36.svg"/><Relationship Id="rId11" Type="http://schemas.openxmlformats.org/officeDocument/2006/relationships/image" Target="../media/image35.png"/><Relationship Id="rId10" Type="http://schemas.openxmlformats.org/officeDocument/2006/relationships/tags" Target="../tags/tag50.xml"/><Relationship Id="rId1" Type="http://schemas.openxmlformats.org/officeDocument/2006/relationships/tags" Target="../tags/tag4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72A">
                <a:alpha val="100000"/>
              </a:srgbClr>
            </a:gs>
            <a:gs pos="100000">
              <a:srgbClr val="1E3A8A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91200" y="1016000"/>
            <a:ext cx="609600" cy="609600"/>
          </a:xfrm>
          <a:prstGeom prst="rect">
            <a:avLst/>
          </a:prstGeom>
        </p:spPr>
      </p:pic>
      <p:sp>
        <p:nvSpPr>
          <p:cNvPr id="3" name="AutoShape 3"/>
          <p:cNvSpPr/>
          <p:nvPr/>
        </p:nvSpPr>
        <p:spPr>
          <a:xfrm>
            <a:off x="635000" y="1778000"/>
            <a:ext cx="1092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</a:t>
            </a:r>
            <a:r>
              <a:rPr lang="zh-CN" alt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编程</a:t>
            </a: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入门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17188">
            <a:off x="4826016" y="2660650"/>
            <a:ext cx="254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93C5FD">
                <a:alpha val="5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6" name="AutoShape 6"/>
          <p:cNvSpPr/>
          <p:nvPr/>
        </p:nvSpPr>
        <p:spPr>
          <a:xfrm>
            <a:off x="3556000" y="4445000"/>
            <a:ext cx="5080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1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10000" y="46736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4191000" y="46355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动画 + 数媒 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0" y="6756400"/>
            <a:ext cx="12192000" cy="1016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3B82F6">
                  <a:alpha val="100000"/>
                </a:srgbClr>
              </a:gs>
              <a:gs pos="100000">
                <a:srgbClr val="93C5FD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为什么学AI</a:t>
            </a:r>
            <a:r>
              <a:rPr lang="zh-CN" altLang="en-US" sz="24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编程</a:t>
            </a:r>
            <a:r>
              <a:rPr lang="en-US" sz="24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？</a:t>
            </a:r>
            <a:endParaRPr lang="en-US" sz="1100"/>
          </a:p>
        </p:txBody>
      </p:sp>
      <p:sp>
        <p:nvSpPr>
          <p:cNvPr id="3" name="AutoShape 3"/>
          <p:cNvSpPr/>
          <p:nvPr>
            <p:custDataLst>
              <p:tags r:id="rId1"/>
            </p:custDataLst>
          </p:nvPr>
        </p:nvSpPr>
        <p:spPr>
          <a:xfrm>
            <a:off x="762000" y="1651000"/>
            <a:ext cx="3302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>
            <p:custDataLst>
              <p:tags r:id="rId2"/>
            </p:custDataLst>
          </p:nvPr>
        </p:nvSpPr>
        <p:spPr>
          <a:xfrm>
            <a:off x="762000" y="1651000"/>
            <a:ext cx="3302000" cy="762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>
            <p:custDataLst>
              <p:tags r:id="rId3"/>
            </p:custDataLst>
          </p:nvPr>
        </p:nvSpPr>
        <p:spPr>
          <a:xfrm>
            <a:off x="1905000" y="1968500"/>
            <a:ext cx="1016000" cy="1016000"/>
          </a:xfrm>
          <a:prstGeom prst="ellipse">
            <a:avLst/>
          </a:prstGeom>
          <a:solidFill>
            <a:srgbClr val="3B82F6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095500" y="2159000"/>
            <a:ext cx="635000" cy="635000"/>
          </a:xfrm>
          <a:prstGeom prst="rect">
            <a:avLst/>
          </a:prstGeom>
        </p:spPr>
      </p:pic>
      <p:sp>
        <p:nvSpPr>
          <p:cNvPr id="7" name="AutoShape 7"/>
          <p:cNvSpPr/>
          <p:nvPr>
            <p:custDataLst>
              <p:tags r:id="rId7"/>
            </p:custDataLst>
          </p:nvPr>
        </p:nvSpPr>
        <p:spPr>
          <a:xfrm>
            <a:off x="889000" y="31115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跨场景适用</a:t>
            </a:r>
            <a:endParaRPr lang="en-US" sz="1100"/>
          </a:p>
        </p:txBody>
      </p:sp>
      <p:sp>
        <p:nvSpPr>
          <p:cNvPr id="8" name="AutoShape 8"/>
          <p:cNvSpPr/>
          <p:nvPr>
            <p:custDataLst>
              <p:tags r:id="rId8"/>
            </p:custDataLst>
          </p:nvPr>
        </p:nvSpPr>
        <p:spPr>
          <a:xfrm>
            <a:off x="952500" y="35560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endParaRPr lang="en-US" sz="1400" b="0" i="0" u="none" strike="noStrike">
              <a:solidFill>
                <a:srgbClr val="646A7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ctr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不止</a:t>
            </a:r>
            <a:r>
              <a:rPr lang="zh-CN" altLang="en-US" sz="14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能</a:t>
            </a:r>
            <a:r>
              <a:rPr lang="en-US" sz="14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写代码</a:t>
            </a:r>
            <a:r>
              <a:rPr lang="zh-CN" altLang="en-US" sz="14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，数媒动画都值得学</a:t>
            </a:r>
            <a:r>
              <a:rPr lang="en-US" sz="14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/>
          </a:p>
        </p:txBody>
      </p:sp>
      <p:sp>
        <p:nvSpPr>
          <p:cNvPr id="9" name="AutoShape 9"/>
          <p:cNvSpPr/>
          <p:nvPr>
            <p:custDataLst>
              <p:tags r:id="rId9"/>
            </p:custDataLst>
          </p:nvPr>
        </p:nvSpPr>
        <p:spPr>
          <a:xfrm>
            <a:off x="4445000" y="1651000"/>
            <a:ext cx="3302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>
            <p:custDataLst>
              <p:tags r:id="rId10"/>
            </p:custDataLst>
          </p:nvPr>
        </p:nvSpPr>
        <p:spPr>
          <a:xfrm>
            <a:off x="4445000" y="1651000"/>
            <a:ext cx="3302000" cy="762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>
            <p:custDataLst>
              <p:tags r:id="rId11"/>
            </p:custDataLst>
          </p:nvPr>
        </p:nvSpPr>
        <p:spPr>
          <a:xfrm>
            <a:off x="5588000" y="1968500"/>
            <a:ext cx="1016000" cy="1016000"/>
          </a:xfrm>
          <a:prstGeom prst="ellipse">
            <a:avLst/>
          </a:prstGeom>
          <a:solidFill>
            <a:srgbClr val="10B981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778500" y="2159000"/>
            <a:ext cx="635000" cy="635000"/>
          </a:xfrm>
          <a:prstGeom prst="rect">
            <a:avLst/>
          </a:prstGeom>
        </p:spPr>
      </p:pic>
      <p:sp>
        <p:nvSpPr>
          <p:cNvPr id="13" name="AutoShape 13"/>
          <p:cNvSpPr/>
          <p:nvPr>
            <p:custDataLst>
              <p:tags r:id="rId15"/>
            </p:custDataLst>
          </p:nvPr>
        </p:nvSpPr>
        <p:spPr>
          <a:xfrm>
            <a:off x="4572000" y="31115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效率提升</a:t>
            </a:r>
            <a:endParaRPr lang="en-US" sz="1100"/>
          </a:p>
        </p:txBody>
      </p:sp>
      <p:sp>
        <p:nvSpPr>
          <p:cNvPr id="14" name="AutoShape 14"/>
          <p:cNvSpPr/>
          <p:nvPr>
            <p:custDataLst>
              <p:tags r:id="rId16"/>
            </p:custDataLst>
          </p:nvPr>
        </p:nvSpPr>
        <p:spPr>
          <a:xfrm>
            <a:off x="4635500" y="35560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zh-CN" altLang="en-US" sz="14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提高开发效率</a:t>
            </a:r>
            <a:endParaRPr lang="zh-CN" altLang="en-US" sz="1400" b="0" i="0" u="none" strike="noStrike">
              <a:solidFill>
                <a:srgbClr val="646A7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>
            <p:custDataLst>
              <p:tags r:id="rId17"/>
            </p:custDataLst>
          </p:nvPr>
        </p:nvSpPr>
        <p:spPr>
          <a:xfrm>
            <a:off x="8128000" y="1651000"/>
            <a:ext cx="3302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>
            <p:custDataLst>
              <p:tags r:id="rId18"/>
            </p:custDataLst>
          </p:nvPr>
        </p:nvSpPr>
        <p:spPr>
          <a:xfrm>
            <a:off x="8128000" y="1651000"/>
            <a:ext cx="3302000" cy="76200"/>
          </a:xfrm>
          <a:prstGeom prst="roundRect">
            <a:avLst>
              <a:gd name="adj" fmla="val 0"/>
            </a:avLst>
          </a:prstGeom>
          <a:solidFill>
            <a:srgbClr val="F59E0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>
            <p:custDataLst>
              <p:tags r:id="rId19"/>
            </p:custDataLst>
          </p:nvPr>
        </p:nvSpPr>
        <p:spPr>
          <a:xfrm>
            <a:off x="9271000" y="1968500"/>
            <a:ext cx="1016000" cy="1016000"/>
          </a:xfrm>
          <a:prstGeom prst="ellipse">
            <a:avLst/>
          </a:prstGeom>
          <a:solidFill>
            <a:srgbClr val="F59E0B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9461500" y="2159000"/>
            <a:ext cx="635000" cy="635000"/>
          </a:xfrm>
          <a:prstGeom prst="rect">
            <a:avLst/>
          </a:prstGeom>
        </p:spPr>
      </p:pic>
      <p:sp>
        <p:nvSpPr>
          <p:cNvPr id="19" name="AutoShape 19"/>
          <p:cNvSpPr/>
          <p:nvPr>
            <p:custDataLst>
              <p:tags r:id="rId23"/>
            </p:custDataLst>
          </p:nvPr>
        </p:nvSpPr>
        <p:spPr>
          <a:xfrm>
            <a:off x="8255000" y="31115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面试加分</a:t>
            </a:r>
            <a:endParaRPr lang="en-US" sz="1100"/>
          </a:p>
        </p:txBody>
      </p:sp>
      <p:sp>
        <p:nvSpPr>
          <p:cNvPr id="20" name="AutoShape 20"/>
          <p:cNvSpPr/>
          <p:nvPr>
            <p:custDataLst>
              <p:tags r:id="rId24"/>
            </p:custDataLst>
          </p:nvPr>
        </p:nvSpPr>
        <p:spPr>
          <a:xfrm>
            <a:off x="8318500" y="35560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zh-CN" altLang="en-US" sz="14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写进简历，面试会有加分</a:t>
            </a:r>
            <a:endParaRPr lang="zh-CN" altLang="en-US" sz="1400" b="0" i="0" u="none" strike="noStrike">
              <a:solidFill>
                <a:srgbClr val="646A7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36322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四周</a:t>
            </a:r>
            <a:r>
              <a:rPr lang="zh-CN" altLang="en-US" sz="24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规划（可能有调整）</a:t>
            </a:r>
            <a:endParaRPr lang="zh-CN" altLang="en-US" sz="2400" b="1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" name="AutoShape 3"/>
          <p:cNvSpPr/>
          <p:nvPr>
            <p:custDataLst>
              <p:tags r:id="rId1"/>
            </p:custDataLst>
          </p:nvPr>
        </p:nvSpPr>
        <p:spPr>
          <a:xfrm>
            <a:off x="762000" y="1270000"/>
            <a:ext cx="52070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1511300"/>
            <a:ext cx="406400" cy="406400"/>
          </a:xfrm>
          <a:prstGeom prst="rect">
            <a:avLst/>
          </a:prstGeom>
        </p:spPr>
      </p:pic>
      <p:sp>
        <p:nvSpPr>
          <p:cNvPr id="5" name="AutoShape 5"/>
          <p:cNvSpPr/>
          <p:nvPr>
            <p:custDataLst>
              <p:tags r:id="rId5"/>
            </p:custDataLst>
          </p:nvPr>
        </p:nvSpPr>
        <p:spPr>
          <a:xfrm>
            <a:off x="1574800" y="1524000"/>
            <a:ext cx="419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第一周：Trae基本使用+AGENTS+</a:t>
            </a:r>
            <a:r>
              <a:rPr lang="zh-CN" altLang="en-US" sz="16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子代理</a:t>
            </a:r>
            <a:endParaRPr lang="zh-CN" altLang="en-US" sz="1600" b="1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>
            <p:custDataLst>
              <p:tags r:id="rId6"/>
            </p:custDataLst>
          </p:nvPr>
        </p:nvSpPr>
        <p:spPr>
          <a:xfrm>
            <a:off x="762000" y="2286000"/>
            <a:ext cx="52070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16000" y="25273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>
            <p:custDataLst>
              <p:tags r:id="rId10"/>
            </p:custDataLst>
          </p:nvPr>
        </p:nvSpPr>
        <p:spPr>
          <a:xfrm>
            <a:off x="1574800" y="2578100"/>
            <a:ext cx="419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第二周： </a:t>
            </a:r>
            <a:r>
              <a:rPr lang="en-US" altLang="zh-CN" sz="16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mcp+skill</a:t>
            </a:r>
            <a:endParaRPr lang="zh-CN" altLang="en-US" sz="1600" b="1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>
            <p:custDataLst>
              <p:tags r:id="rId11"/>
            </p:custDataLst>
          </p:nvPr>
        </p:nvSpPr>
        <p:spPr>
          <a:xfrm>
            <a:off x="762000" y="3302000"/>
            <a:ext cx="52070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16000" y="35433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>
            <p:custDataLst>
              <p:tags r:id="rId15"/>
            </p:custDataLst>
          </p:nvPr>
        </p:nvSpPr>
        <p:spPr>
          <a:xfrm>
            <a:off x="1574800" y="3556000"/>
            <a:ext cx="419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第三周：</a:t>
            </a:r>
            <a:r>
              <a:rPr lang="zh-CN" altLang="en-US" sz="16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敏捷开发介绍</a:t>
            </a:r>
            <a:endParaRPr lang="zh-CN" altLang="en-US" sz="1600" b="1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>
            <p:custDataLst>
              <p:tags r:id="rId16"/>
            </p:custDataLst>
          </p:nvPr>
        </p:nvSpPr>
        <p:spPr>
          <a:xfrm>
            <a:off x="762000" y="4318000"/>
            <a:ext cx="52070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016000" y="45593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>
            <p:custDataLst>
              <p:tags r:id="rId20"/>
            </p:custDataLst>
          </p:nvPr>
        </p:nvSpPr>
        <p:spPr>
          <a:xfrm>
            <a:off x="1574800" y="4559300"/>
            <a:ext cx="419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第四周：</a:t>
            </a:r>
            <a:r>
              <a:rPr lang="zh-CN" altLang="en-US" sz="16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实操</a:t>
            </a:r>
            <a:endParaRPr lang="zh-CN" altLang="en-US" sz="1600" b="1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762000" y="5461000"/>
            <a:ext cx="10668000" cy="889000"/>
          </a:xfrm>
          <a:prstGeom prst="roundRect">
            <a:avLst>
              <a:gd name="adj" fmla="val 14285"/>
            </a:avLst>
          </a:prstGeom>
          <a:solidFill>
            <a:srgbClr val="FEF2F2">
              <a:alpha val="100000"/>
            </a:srgbClr>
          </a:solidFill>
          <a:ln w="12700" cap="flat" cmpd="sng">
            <a:solidFill>
              <a:srgbClr val="EF4444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016000" y="5702300"/>
            <a:ext cx="406400" cy="4064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1574800" y="5613400"/>
            <a:ext cx="9525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概念理解＞</a:t>
            </a:r>
            <a:r>
              <a:rPr lang="zh-CN" altLang="en-US" sz="1800" b="1" i="0" u="none" strike="noStrike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实际操作</a:t>
            </a:r>
            <a:r>
              <a:rPr lang="en-US" sz="1800" b="1" i="0" u="none" strike="noStrike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，最终目标</a:t>
            </a:r>
            <a:r>
              <a:rPr lang="zh-CN" altLang="en-US" sz="1800" b="1" i="0" u="none" strike="noStrike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是</a:t>
            </a:r>
            <a:r>
              <a:rPr lang="en-US" sz="1800" b="1" i="0" u="none" strike="noStrike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独立配置专属AI工具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73787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24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课程</a:t>
            </a:r>
            <a:r>
              <a:rPr lang="en-US" sz="24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AI编码工具选型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143000"/>
            <a:ext cx="10668000" cy="2921000"/>
          </a:xfrm>
          <a:prstGeom prst="roundRect">
            <a:avLst>
              <a:gd name="adj" fmla="val 4347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889000" y="1270000"/>
          <a:ext cx="10414000" cy="2794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032000"/>
                <a:gridCol w="4181475"/>
                <a:gridCol w="4200525"/>
              </a:tblGrid>
              <a:tr h="5080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1E3A8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工具名称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6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1E3A8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核心优势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6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1E3A8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主要局限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6FF">
                        <a:alpha val="100000"/>
                      </a:srgbClr>
                    </a:solidFill>
                  </a:tcPr>
                </a:tc>
              </a:tr>
              <a:tr h="5715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Trae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37415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免费模型多、强度高、上手快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6B728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不支持插件扩展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715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Qwen Code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37415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1个免费模型、不限速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6B728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无插件支持，mcp/网络搜索受限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715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Opencode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37415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支持插件、mcp协议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6B728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免费模型稳定性较差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715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Claude Code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37415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功能体验最佳，上下文理解强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6B728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无任何免费模型，成本较高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AutoShape 5"/>
          <p:cNvSpPr/>
          <p:nvPr/>
        </p:nvSpPr>
        <p:spPr>
          <a:xfrm>
            <a:off x="762000" y="4318000"/>
            <a:ext cx="10668000" cy="1270000"/>
          </a:xfrm>
          <a:prstGeom prst="roundRect">
            <a:avLst>
              <a:gd name="adj" fmla="val 10000"/>
            </a:avLst>
          </a:prstGeom>
          <a:solidFill>
            <a:srgbClr val="FFF7ED">
              <a:alpha val="100000"/>
            </a:srgbClr>
          </a:solidFill>
          <a:ln w="12700" cap="flat" cmpd="sng">
            <a:solidFill>
              <a:srgbClr val="FB923C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4635500"/>
            <a:ext cx="609600" cy="6096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778000" y="4635500"/>
            <a:ext cx="90297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400" b="0" i="0" u="none" strike="noStrike">
                <a:solidFill>
                  <a:srgbClr val="9A341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原则：必须优先考虑免费模型，其实才是好用。</a:t>
            </a:r>
            <a:endParaRPr lang="zh-CN" altLang="en-US" sz="1400" b="0" i="0" u="none" strike="noStrike">
              <a:solidFill>
                <a:srgbClr val="9A341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zh-CN" altLang="en-US">
                <a:solidFill>
                  <a:srgbClr val="9A341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虽然还可以选</a:t>
            </a:r>
            <a:r>
              <a:rPr lang="en-US" altLang="zh-CN">
                <a:solidFill>
                  <a:srgbClr val="9A341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Ollama</a:t>
            </a:r>
            <a:r>
              <a:rPr lang="zh-CN" altLang="en-US">
                <a:solidFill>
                  <a:srgbClr val="9A341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本地自建模型，但是模型比较弱。</a:t>
            </a:r>
            <a:endParaRPr lang="en-US" sz="1400" b="0" i="0" u="none" strike="noStrike">
              <a:solidFill>
                <a:srgbClr val="9A341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zh-CN" altLang="en-US" sz="1400" b="0" i="0" u="none" strike="noStrike">
                <a:solidFill>
                  <a:srgbClr val="9A341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最终还是</a:t>
            </a:r>
            <a:r>
              <a:rPr lang="en-US" sz="1400" b="0" i="0" u="none" strike="noStrike">
                <a:solidFill>
                  <a:srgbClr val="9A341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选择</a:t>
            </a:r>
            <a:r>
              <a:rPr lang="zh-CN" altLang="en-US" sz="1400" b="0" i="0" u="none" strike="noStrike">
                <a:solidFill>
                  <a:srgbClr val="9A341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了</a:t>
            </a:r>
            <a:r>
              <a:rPr lang="en-US" sz="1400" b="0" i="0" u="none" strike="noStrike">
                <a:solidFill>
                  <a:srgbClr val="9A341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Trae</a:t>
            </a:r>
            <a:r>
              <a:rPr lang="zh-CN" altLang="en-US" sz="1400" b="0" i="0" u="none" strike="noStrike">
                <a:solidFill>
                  <a:srgbClr val="9A341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r>
              <a:rPr lang="en-US" sz="1400" b="0" i="0" u="none" strike="noStrike">
                <a:solidFill>
                  <a:srgbClr val="9A341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因为免费、模型强度高且容易上手。</a:t>
            </a:r>
            <a:endParaRPr lang="en-US" sz="1400" b="0" i="0" u="none" strike="noStrike">
              <a:solidFill>
                <a:srgbClr val="9A341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  <a:defRPr/>
            </a:pPr>
            <a:endParaRPr lang="zh-CN" altLang="en-US" sz="1400" b="0" i="0" u="none" strike="noStrike">
              <a:solidFill>
                <a:srgbClr val="9A341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1016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免费额度体验</a:t>
            </a:r>
            <a:endParaRPr lang="en-US" sz="1100"/>
          </a:p>
        </p:txBody>
      </p:sp>
      <p:sp>
        <p:nvSpPr>
          <p:cNvPr id="3" name="AutoShape 3"/>
          <p:cNvSpPr/>
          <p:nvPr>
            <p:custDataLst>
              <p:tags r:id="rId1"/>
            </p:custDataLst>
          </p:nvPr>
        </p:nvSpPr>
        <p:spPr>
          <a:xfrm>
            <a:off x="762000" y="1778000"/>
            <a:ext cx="51435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095500"/>
            <a:ext cx="508000" cy="508000"/>
          </a:xfrm>
          <a:prstGeom prst="rect">
            <a:avLst/>
          </a:prstGeom>
        </p:spPr>
      </p:pic>
      <p:sp>
        <p:nvSpPr>
          <p:cNvPr id="5" name="AutoShape 5"/>
          <p:cNvSpPr/>
          <p:nvPr>
            <p:custDataLst>
              <p:tags r:id="rId5"/>
            </p:custDataLst>
          </p:nvPr>
        </p:nvSpPr>
        <p:spPr>
          <a:xfrm>
            <a:off x="1714500" y="1968500"/>
            <a:ext cx="393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阿里百炼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新用户专属免费额度</a:t>
            </a:r>
            <a:endParaRPr lang="en-US" sz="1400" b="0" i="0" u="none" strike="noStrike">
              <a:solidFill>
                <a:srgbClr val="646A7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>
            <p:custDataLst>
              <p:tags r:id="rId6"/>
            </p:custDataLst>
          </p:nvPr>
        </p:nvSpPr>
        <p:spPr>
          <a:xfrm>
            <a:off x="6286500" y="1778000"/>
            <a:ext cx="51435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40500" y="2095500"/>
            <a:ext cx="508000" cy="508000"/>
          </a:xfrm>
          <a:prstGeom prst="rect">
            <a:avLst/>
          </a:prstGeom>
        </p:spPr>
      </p:pic>
      <p:sp>
        <p:nvSpPr>
          <p:cNvPr id="8" name="AutoShape 8"/>
          <p:cNvSpPr/>
          <p:nvPr>
            <p:custDataLst>
              <p:tags r:id="rId10"/>
            </p:custDataLst>
          </p:nvPr>
        </p:nvSpPr>
        <p:spPr>
          <a:xfrm>
            <a:off x="7239000" y="1968500"/>
            <a:ext cx="393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硅基流动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免费额度 + 9B以下小模型永久免费</a:t>
            </a:r>
            <a:endParaRPr lang="en-US" sz="1400" b="0" i="0" u="none" strike="noStrike">
              <a:solidFill>
                <a:srgbClr val="646A7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>
            <p:custDataLst>
              <p:tags r:id="rId11"/>
            </p:custDataLst>
          </p:nvPr>
        </p:nvSpPr>
        <p:spPr>
          <a:xfrm>
            <a:off x="762000" y="3175000"/>
            <a:ext cx="51435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16000" y="3492500"/>
            <a:ext cx="508000" cy="508000"/>
          </a:xfrm>
          <a:prstGeom prst="rect">
            <a:avLst/>
          </a:prstGeom>
        </p:spPr>
      </p:pic>
      <p:sp>
        <p:nvSpPr>
          <p:cNvPr id="11" name="AutoShape 11"/>
          <p:cNvSpPr/>
          <p:nvPr>
            <p:custDataLst>
              <p:tags r:id="rId15"/>
            </p:custDataLst>
          </p:nvPr>
        </p:nvSpPr>
        <p:spPr>
          <a:xfrm>
            <a:off x="1714500" y="3365500"/>
            <a:ext cx="393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智谱 AI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新用户额度充足（优先体验GLM-5）</a:t>
            </a:r>
            <a:endParaRPr lang="en-US" sz="1400" b="0" i="0" u="none" strike="noStrike">
              <a:solidFill>
                <a:srgbClr val="646A7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>
            <p:custDataLst>
              <p:tags r:id="rId16"/>
            </p:custDataLst>
          </p:nvPr>
        </p:nvSpPr>
        <p:spPr>
          <a:xfrm>
            <a:off x="6286500" y="3175000"/>
            <a:ext cx="51435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540500" y="3492500"/>
            <a:ext cx="508000" cy="508000"/>
          </a:xfrm>
          <a:prstGeom prst="rect">
            <a:avLst/>
          </a:prstGeom>
        </p:spPr>
      </p:pic>
      <p:sp>
        <p:nvSpPr>
          <p:cNvPr id="14" name="AutoShape 14"/>
          <p:cNvSpPr/>
          <p:nvPr>
            <p:custDataLst>
              <p:tags r:id="rId20"/>
            </p:custDataLst>
          </p:nvPr>
        </p:nvSpPr>
        <p:spPr>
          <a:xfrm>
            <a:off x="7239000" y="3365500"/>
            <a:ext cx="393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Minimax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新用户专属免费额度</a:t>
            </a:r>
            <a:endParaRPr lang="en-US" sz="1400" b="0" i="0" u="none" strike="noStrike">
              <a:solidFill>
                <a:srgbClr val="646A7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762000" y="4699000"/>
            <a:ext cx="10668000" cy="1016000"/>
          </a:xfrm>
          <a:prstGeom prst="roundRect">
            <a:avLst>
              <a:gd name="adj" fmla="val 12500"/>
            </a:avLst>
          </a:prstGeom>
          <a:solidFill>
            <a:srgbClr val="E5E7EB">
              <a:alpha val="5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016000" y="5016500"/>
            <a:ext cx="381000" cy="3810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524000" y="4826000"/>
            <a:ext cx="965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6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如果想用没有免费模型的工具，</a:t>
            </a:r>
            <a:r>
              <a:rPr lang="en-US" sz="16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可以去这些平台领取免费额度</a:t>
            </a:r>
            <a:r>
              <a:rPr lang="zh-CN" altLang="en-US" sz="16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先试用</a:t>
            </a:r>
            <a:r>
              <a:rPr lang="en-US" sz="16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57023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为什么选择Unity</a:t>
            </a:r>
            <a:r>
              <a:rPr lang="zh-CN" altLang="en-US" sz="24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为主</a:t>
            </a:r>
            <a:endParaRPr lang="zh-CN" altLang="en-US" sz="2400" b="1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" name="AutoShape 3"/>
          <p:cNvSpPr/>
          <p:nvPr>
            <p:custDataLst>
              <p:tags r:id="rId1"/>
            </p:custDataLst>
          </p:nvPr>
        </p:nvSpPr>
        <p:spPr>
          <a:xfrm>
            <a:off x="762000" y="2133600"/>
            <a:ext cx="3302000" cy="2794000"/>
          </a:xfrm>
          <a:prstGeom prst="roundRect">
            <a:avLst>
              <a:gd name="adj" fmla="val 454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>
            <p:custDataLst>
              <p:tags r:id="rId2"/>
            </p:custDataLst>
          </p:nvPr>
        </p:nvSpPr>
        <p:spPr>
          <a:xfrm>
            <a:off x="2095500" y="2387600"/>
            <a:ext cx="635000" cy="635000"/>
          </a:xfrm>
          <a:prstGeom prst="ellipse">
            <a:avLst/>
          </a:prstGeom>
          <a:solidFill>
            <a:srgbClr val="3B82F6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97100" y="2489200"/>
            <a:ext cx="431800" cy="431800"/>
          </a:xfrm>
          <a:prstGeom prst="rect">
            <a:avLst/>
          </a:prstGeom>
        </p:spPr>
      </p:pic>
      <p:sp>
        <p:nvSpPr>
          <p:cNvPr id="6" name="AutoShape 6"/>
          <p:cNvSpPr/>
          <p:nvPr>
            <p:custDataLst>
              <p:tags r:id="rId6"/>
            </p:custDataLst>
          </p:nvPr>
        </p:nvSpPr>
        <p:spPr>
          <a:xfrm>
            <a:off x="889000" y="31496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unity</a:t>
            </a:r>
            <a:r>
              <a:rPr lang="zh-CN" altLang="en-US" sz="18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适合独立游戏</a:t>
            </a:r>
            <a:endParaRPr lang="zh-CN" altLang="en-US" sz="1800" b="1" i="0" u="none" strike="noStrike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>
            <p:custDataLst>
              <p:tags r:id="rId7"/>
            </p:custDataLst>
          </p:nvPr>
        </p:nvSpPr>
        <p:spPr>
          <a:xfrm>
            <a:off x="952500" y="36576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在小团队和独立游戏开发中，Unity的使用占比远高于UE，生态更成熟。</a:t>
            </a:r>
            <a:endParaRPr lang="en-US" sz="1100"/>
          </a:p>
        </p:txBody>
      </p:sp>
      <p:sp>
        <p:nvSpPr>
          <p:cNvPr id="8" name="AutoShape 8"/>
          <p:cNvSpPr/>
          <p:nvPr>
            <p:custDataLst>
              <p:tags r:id="rId8"/>
            </p:custDataLst>
          </p:nvPr>
        </p:nvSpPr>
        <p:spPr>
          <a:xfrm>
            <a:off x="4445000" y="2133600"/>
            <a:ext cx="3302000" cy="2794000"/>
          </a:xfrm>
          <a:prstGeom prst="roundRect">
            <a:avLst>
              <a:gd name="adj" fmla="val 454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>
            <p:custDataLst>
              <p:tags r:id="rId9"/>
            </p:custDataLst>
          </p:nvPr>
        </p:nvSpPr>
        <p:spPr>
          <a:xfrm>
            <a:off x="5778500" y="2387600"/>
            <a:ext cx="635000" cy="635000"/>
          </a:xfrm>
          <a:prstGeom prst="ellipse">
            <a:avLst/>
          </a:prstGeom>
          <a:solidFill>
            <a:srgbClr val="10B981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880100" y="2489200"/>
            <a:ext cx="431800" cy="431800"/>
          </a:xfrm>
          <a:prstGeom prst="rect">
            <a:avLst/>
          </a:prstGeom>
        </p:spPr>
      </p:pic>
      <p:sp>
        <p:nvSpPr>
          <p:cNvPr id="11" name="AutoShape 11"/>
          <p:cNvSpPr/>
          <p:nvPr>
            <p:custDataLst>
              <p:tags r:id="rId13"/>
            </p:custDataLst>
          </p:nvPr>
        </p:nvSpPr>
        <p:spPr>
          <a:xfrm>
            <a:off x="4572000" y="31496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altLang="zh-CN" sz="18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</a:t>
            </a:r>
            <a:r>
              <a:rPr lang="zh-CN" altLang="en-US" sz="18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背景下</a:t>
            </a:r>
            <a:r>
              <a:rPr lang="en-US" altLang="zh-CN" sz="18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UE</a:t>
            </a:r>
            <a:r>
              <a:rPr lang="zh-CN" altLang="en-US" sz="18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蓝图没啥用</a:t>
            </a:r>
            <a:endParaRPr lang="zh-CN" altLang="en-US" sz="1800" b="1" i="0" u="none" strike="noStrike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>
            <p:custDataLst>
              <p:tags r:id="rId14"/>
            </p:custDataLst>
          </p:nvPr>
        </p:nvSpPr>
        <p:spPr>
          <a:xfrm>
            <a:off x="4635500" y="36576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8000"/>
              </a:lnSpc>
              <a:defRPr/>
            </a:pPr>
            <a:r>
              <a:rPr lang="en-US" altLang="zh-CN" sz="14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</a:t>
            </a:r>
            <a:r>
              <a:rPr lang="zh-CN" altLang="en-US" sz="14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无法也无需生成蓝图。用</a:t>
            </a:r>
            <a:r>
              <a:rPr lang="en-US" sz="14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UE C++</a:t>
            </a:r>
            <a:r>
              <a:rPr lang="zh-CN" altLang="en-US" sz="14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或者其他脚本</a:t>
            </a:r>
            <a:r>
              <a:rPr lang="en-US" sz="14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</a:t>
            </a:r>
            <a:r>
              <a:rPr lang="zh-CN" altLang="en-US" sz="14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才好用</a:t>
            </a:r>
            <a:r>
              <a:rPr lang="en-US" altLang="zh-CN" sz="14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</a:t>
            </a:r>
            <a:r>
              <a:rPr lang="zh-CN" altLang="en-US" sz="14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直接生成</a:t>
            </a:r>
            <a:r>
              <a:rPr lang="en-US" altLang="zh-CN" sz="14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UE</a:t>
            </a:r>
            <a:r>
              <a:rPr lang="zh-CN" altLang="en-US" sz="14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代码。</a:t>
            </a:r>
            <a:endParaRPr lang="zh-CN" altLang="en-US" sz="1400" b="0" i="0" u="none" strike="noStrike">
              <a:solidFill>
                <a:srgbClr val="646A7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>
            <p:custDataLst>
              <p:tags r:id="rId15"/>
            </p:custDataLst>
          </p:nvPr>
        </p:nvSpPr>
        <p:spPr>
          <a:xfrm>
            <a:off x="8128000" y="2133600"/>
            <a:ext cx="3302000" cy="2794000"/>
          </a:xfrm>
          <a:prstGeom prst="roundRect">
            <a:avLst>
              <a:gd name="adj" fmla="val 454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>
            <p:custDataLst>
              <p:tags r:id="rId16"/>
            </p:custDataLst>
          </p:nvPr>
        </p:nvSpPr>
        <p:spPr>
          <a:xfrm>
            <a:off x="9461500" y="2387600"/>
            <a:ext cx="635000" cy="635000"/>
          </a:xfrm>
          <a:prstGeom prst="ellipse">
            <a:avLst/>
          </a:prstGeom>
          <a:solidFill>
            <a:srgbClr val="F59E0B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9563100" y="2489200"/>
            <a:ext cx="431800" cy="431800"/>
          </a:xfrm>
          <a:prstGeom prst="rect">
            <a:avLst/>
          </a:prstGeom>
        </p:spPr>
      </p:pic>
      <p:sp>
        <p:nvSpPr>
          <p:cNvPr id="16" name="AutoShape 16"/>
          <p:cNvSpPr/>
          <p:nvPr>
            <p:custDataLst>
              <p:tags r:id="rId20"/>
            </p:custDataLst>
          </p:nvPr>
        </p:nvSpPr>
        <p:spPr>
          <a:xfrm>
            <a:off x="8255000" y="31496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altLang="zh-CN" sz="18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</a:t>
            </a:r>
            <a:r>
              <a:rPr lang="zh-CN" altLang="en-US" sz="18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使用上差别不大</a:t>
            </a:r>
            <a:endParaRPr lang="zh-CN" altLang="en-US" sz="1800" b="1" i="0" u="none" strike="noStrike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>
            <p:custDataLst>
              <p:tags r:id="rId21"/>
            </p:custDataLst>
          </p:nvPr>
        </p:nvSpPr>
        <p:spPr>
          <a:xfrm>
            <a:off x="8318500" y="36576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8000"/>
              </a:lnSpc>
              <a:defRPr/>
            </a:pPr>
            <a:r>
              <a:rPr lang="en-US" altLang="zh-CN" sz="14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UE</a:t>
            </a:r>
            <a:r>
              <a:rPr lang="zh-CN" altLang="en-US" sz="14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和</a:t>
            </a:r>
            <a:r>
              <a:rPr lang="en-US" altLang="zh-CN" sz="14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Unity</a:t>
            </a:r>
            <a:r>
              <a:rPr lang="zh-CN" altLang="en-US" sz="14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</a:t>
            </a:r>
            <a:r>
              <a:rPr lang="en-US" altLang="zh-CN" sz="14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</a:t>
            </a:r>
            <a:r>
              <a:rPr lang="zh-CN" altLang="en-US" sz="14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使用上主要区别是</a:t>
            </a:r>
            <a:r>
              <a:rPr lang="en-US" altLang="zh-CN" sz="14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mcp</a:t>
            </a:r>
            <a:r>
              <a:rPr lang="zh-CN" altLang="en-US" sz="14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和测试框架。</a:t>
            </a:r>
            <a:endParaRPr lang="zh-CN" altLang="en-US" sz="1400" b="0" i="0" u="none" strike="noStrike">
              <a:solidFill>
                <a:srgbClr val="646A7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57023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24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内容基于</a:t>
            </a:r>
            <a:r>
              <a:rPr lang="en-US" altLang="zh-CN" sz="24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github</a:t>
            </a:r>
            <a:r>
              <a:rPr lang="zh-CN" altLang="en-US" sz="24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</a:t>
            </a:r>
            <a:endParaRPr lang="zh-CN" altLang="en-US" sz="2400" b="1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762000" y="1392555"/>
            <a:ext cx="8422640" cy="107632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1600"/>
              <a:t>https://github.com/lolorzlol/MADAO-GameCodingAssistant</a:t>
            </a:r>
            <a:endParaRPr lang="en-US" altLang="zh-CN" sz="1600"/>
          </a:p>
          <a:p>
            <a:endParaRPr lang="en-US" altLang="zh-CN" sz="1600"/>
          </a:p>
          <a:p>
            <a:r>
              <a:rPr lang="zh-CN" altLang="en-US" sz="1600">
                <a:ea typeface="宋体" panose="02010600030101010101" pitchFamily="2" charset="-122"/>
              </a:rPr>
              <a:t>包含</a:t>
            </a:r>
            <a:r>
              <a:rPr lang="en-US" altLang="zh-CN" sz="1600">
                <a:ea typeface="宋体" panose="02010600030101010101" pitchFamily="2" charset="-122"/>
              </a:rPr>
              <a:t>ppt</a:t>
            </a:r>
            <a:r>
              <a:rPr lang="zh-CN" altLang="en-US" sz="1600">
                <a:ea typeface="宋体" panose="02010600030101010101" pitchFamily="2" charset="-122"/>
              </a:rPr>
              <a:t>，文档等所有资料。</a:t>
            </a:r>
            <a:endParaRPr lang="en-US" altLang="zh-CN" sz="1600"/>
          </a:p>
          <a:p>
            <a:endParaRPr lang="en-US" altLang="zh-CN" sz="16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40,&quot;left&quot;:60,&quot;top&quot;:130,&quot;width&quot;:840}"/>
</p:tagLst>
</file>

<file path=ppt/tags/tag2.xml><?xml version="1.0" encoding="utf-8"?>
<p:tagLst xmlns:p="http://schemas.openxmlformats.org/presentationml/2006/main">
  <p:tag name="KSO_WM_DIAGRAM_VIRTUALLY_FRAME" val="{&quot;height&quot;:240,&quot;left&quot;:60,&quot;top&quot;:130,&quot;width&quot;:840}"/>
</p:tagLst>
</file>

<file path=ppt/tags/tag3.xml><?xml version="1.0" encoding="utf-8"?>
<p:tagLst xmlns:p="http://schemas.openxmlformats.org/presentationml/2006/main">
  <p:tag name="KSO_WM_DIAGRAM_VIRTUALLY_FRAME" val="{&quot;height&quot;:240,&quot;left&quot;:60,&quot;top&quot;:130,&quot;width&quot;:840}"/>
</p:tagLst>
</file>

<file path=ppt/tags/tag4.xml><?xml version="1.0" encoding="utf-8"?>
<p:tagLst xmlns:p="http://schemas.openxmlformats.org/presentationml/2006/main">
  <p:tag name="KSO_WM_DIAGRAM_VIRTUALLY_FRAME" val="{&quot;height&quot;:240,&quot;left&quot;:60,&quot;top&quot;:130,&quot;width&quot;:840}"/>
</p:tagLst>
</file>

<file path=ppt/tags/tag5.xml><?xml version="1.0" encoding="utf-8"?>
<p:tagLst xmlns:p="http://schemas.openxmlformats.org/presentationml/2006/main">
  <p:tag name="KSO_WM_DIAGRAM_VIRTUALLY_FRAME" val="{&quot;height&quot;:240,&quot;left&quot;:60,&quot;top&quot;:130,&quot;width&quot;:840}"/>
</p:tagLst>
</file>

<file path=ppt/tags/tag6.xml><?xml version="1.0" encoding="utf-8"?>
<p:tagLst xmlns:p="http://schemas.openxmlformats.org/presentationml/2006/main">
  <p:tag name="KSO_WM_DIAGRAM_VIRTUALLY_FRAME" val="{&quot;height&quot;:240,&quot;left&quot;:60,&quot;top&quot;:130,&quot;width&quot;:840}"/>
</p:tagLst>
</file>

<file path=ppt/tags/tag7.xml><?xml version="1.0" encoding="utf-8"?>
<p:tagLst xmlns:p="http://schemas.openxmlformats.org/presentationml/2006/main">
  <p:tag name="KSO_WM_DIAGRAM_VIRTUALLY_FRAME" val="{&quot;height&quot;:240,&quot;left&quot;:60,&quot;top&quot;:130,&quot;width&quot;:840}"/>
</p:tagLst>
</file>

<file path=ppt/tags/tag8.xml><?xml version="1.0" encoding="utf-8"?>
<p:tagLst xmlns:p="http://schemas.openxmlformats.org/presentationml/2006/main">
  <p:tag name="KSO_WM_DIAGRAM_VIRTUALLY_FRAME" val="{&quot;height&quot;:240,&quot;left&quot;:60,&quot;top&quot;:130,&quot;width&quot;:840}"/>
</p:tagLst>
</file>

<file path=ppt/tags/tag9.xml><?xml version="1.0" encoding="utf-8"?>
<p:tagLst xmlns:p="http://schemas.openxmlformats.org/presentationml/2006/main">
  <p:tag name="KSO_WM_DIAGRAM_VIRTUALLY_FRAME" val="{&quot;height&quot;:240,&quot;left&quot;:60,&quot;top&quot;:130,&quot;width&quot;:840}"/>
</p:tagLst>
</file>

<file path=ppt/tags/tag10.xml><?xml version="1.0" encoding="utf-8"?>
<p:tagLst xmlns:p="http://schemas.openxmlformats.org/presentationml/2006/main">
  <p:tag name="KSO_WM_DIAGRAM_VIRTUALLY_FRAME" val="{&quot;height&quot;:240,&quot;left&quot;:60,&quot;top&quot;:130,&quot;width&quot;:840}"/>
</p:tagLst>
</file>

<file path=ppt/tags/tag11.xml><?xml version="1.0" encoding="utf-8"?>
<p:tagLst xmlns:p="http://schemas.openxmlformats.org/presentationml/2006/main">
  <p:tag name="KSO_WM_DIAGRAM_VIRTUALLY_FRAME" val="{&quot;height&quot;:240,&quot;left&quot;:60,&quot;top&quot;:130,&quot;width&quot;:840}"/>
</p:tagLst>
</file>

<file path=ppt/tags/tag12.xml><?xml version="1.0" encoding="utf-8"?>
<p:tagLst xmlns:p="http://schemas.openxmlformats.org/presentationml/2006/main">
  <p:tag name="KSO_WM_DIAGRAM_VIRTUALLY_FRAME" val="{&quot;height&quot;:240,&quot;left&quot;:60,&quot;top&quot;:130,&quot;width&quot;:840}"/>
</p:tagLst>
</file>

<file path=ppt/tags/tag13.xml><?xml version="1.0" encoding="utf-8"?>
<p:tagLst xmlns:p="http://schemas.openxmlformats.org/presentationml/2006/main">
  <p:tag name="KSO_WM_DIAGRAM_VIRTUALLY_FRAME" val="{&quot;height&quot;:240,&quot;left&quot;:60,&quot;top&quot;:130,&quot;width&quot;:840}"/>
</p:tagLst>
</file>

<file path=ppt/tags/tag14.xml><?xml version="1.0" encoding="utf-8"?>
<p:tagLst xmlns:p="http://schemas.openxmlformats.org/presentationml/2006/main">
  <p:tag name="KSO_WM_DIAGRAM_VIRTUALLY_FRAME" val="{&quot;height&quot;:240,&quot;left&quot;:60,&quot;top&quot;:130,&quot;width&quot;:840}"/>
</p:tagLst>
</file>

<file path=ppt/tags/tag15.xml><?xml version="1.0" encoding="utf-8"?>
<p:tagLst xmlns:p="http://schemas.openxmlformats.org/presentationml/2006/main">
  <p:tag name="KSO_WM_DIAGRAM_VIRTUALLY_FRAME" val="{&quot;height&quot;:240,&quot;left&quot;:60,&quot;top&quot;:130,&quot;width&quot;:840}"/>
</p:tagLst>
</file>

<file path=ppt/tags/tag16.xml><?xml version="1.0" encoding="utf-8"?>
<p:tagLst xmlns:p="http://schemas.openxmlformats.org/presentationml/2006/main">
  <p:tag name="KSO_WM_DIAGRAM_VIRTUALLY_FRAME" val="{&quot;height&quot;:240,&quot;left&quot;:60,&quot;top&quot;:130,&quot;width&quot;:840}"/>
</p:tagLst>
</file>

<file path=ppt/tags/tag17.xml><?xml version="1.0" encoding="utf-8"?>
<p:tagLst xmlns:p="http://schemas.openxmlformats.org/presentationml/2006/main">
  <p:tag name="KSO_WM_DIAGRAM_VIRTUALLY_FRAME" val="{&quot;height&quot;:240,&quot;left&quot;:60,&quot;top&quot;:130,&quot;width&quot;:840}"/>
</p:tagLst>
</file>

<file path=ppt/tags/tag18.xml><?xml version="1.0" encoding="utf-8"?>
<p:tagLst xmlns:p="http://schemas.openxmlformats.org/presentationml/2006/main">
  <p:tag name="KSO_WM_DIAGRAM_VIRTUALLY_FRAME" val="{&quot;height&quot;:240,&quot;left&quot;:60,&quot;top&quot;:130,&quot;width&quot;:840}"/>
</p:tagLst>
</file>

<file path=ppt/tags/tag19.xml><?xml version="1.0" encoding="utf-8"?>
<p:tagLst xmlns:p="http://schemas.openxmlformats.org/presentationml/2006/main">
  <p:tag name="KSO_WM_DIAGRAM_VIRTUALLY_FRAME" val="{&quot;height&quot;:310,&quot;left&quot;:60,&quot;top&quot;:100,&quot;width&quot;:410}"/>
</p:tagLst>
</file>

<file path=ppt/tags/tag20.xml><?xml version="1.0" encoding="utf-8"?>
<p:tagLst xmlns:p="http://schemas.openxmlformats.org/presentationml/2006/main">
  <p:tag name="KSO_WM_DIAGRAM_VIRTUALLY_FRAME" val="{&quot;height&quot;:310,&quot;left&quot;:60,&quot;top&quot;:100,&quot;width&quot;:410}"/>
</p:tagLst>
</file>

<file path=ppt/tags/tag21.xml><?xml version="1.0" encoding="utf-8"?>
<p:tagLst xmlns:p="http://schemas.openxmlformats.org/presentationml/2006/main">
  <p:tag name="KSO_WM_DIAGRAM_VIRTUALLY_FRAME" val="{&quot;height&quot;:310,&quot;left&quot;:60,&quot;top&quot;:100,&quot;width&quot;:410}"/>
</p:tagLst>
</file>

<file path=ppt/tags/tag22.xml><?xml version="1.0" encoding="utf-8"?>
<p:tagLst xmlns:p="http://schemas.openxmlformats.org/presentationml/2006/main">
  <p:tag name="KSO_WM_DIAGRAM_VIRTUALLY_FRAME" val="{&quot;height&quot;:310,&quot;left&quot;:60,&quot;top&quot;:100,&quot;width&quot;:410}"/>
</p:tagLst>
</file>

<file path=ppt/tags/tag23.xml><?xml version="1.0" encoding="utf-8"?>
<p:tagLst xmlns:p="http://schemas.openxmlformats.org/presentationml/2006/main">
  <p:tag name="KSO_WM_DIAGRAM_VIRTUALLY_FRAME" val="{&quot;height&quot;:310,&quot;left&quot;:60,&quot;top&quot;:100,&quot;width&quot;:410}"/>
</p:tagLst>
</file>

<file path=ppt/tags/tag24.xml><?xml version="1.0" encoding="utf-8"?>
<p:tagLst xmlns:p="http://schemas.openxmlformats.org/presentationml/2006/main">
  <p:tag name="KSO_WM_DIAGRAM_VIRTUALLY_FRAME" val="{&quot;height&quot;:310,&quot;left&quot;:60,&quot;top&quot;:100,&quot;width&quot;:410}"/>
</p:tagLst>
</file>

<file path=ppt/tags/tag25.xml><?xml version="1.0" encoding="utf-8"?>
<p:tagLst xmlns:p="http://schemas.openxmlformats.org/presentationml/2006/main">
  <p:tag name="KSO_WM_DIAGRAM_VIRTUALLY_FRAME" val="{&quot;height&quot;:310,&quot;left&quot;:60,&quot;top&quot;:100,&quot;width&quot;:410}"/>
</p:tagLst>
</file>

<file path=ppt/tags/tag26.xml><?xml version="1.0" encoding="utf-8"?>
<p:tagLst xmlns:p="http://schemas.openxmlformats.org/presentationml/2006/main">
  <p:tag name="KSO_WM_DIAGRAM_VIRTUALLY_FRAME" val="{&quot;height&quot;:310,&quot;left&quot;:60,&quot;top&quot;:100,&quot;width&quot;:410}"/>
</p:tagLst>
</file>

<file path=ppt/tags/tag27.xml><?xml version="1.0" encoding="utf-8"?>
<p:tagLst xmlns:p="http://schemas.openxmlformats.org/presentationml/2006/main">
  <p:tag name="KSO_WM_DIAGRAM_VIRTUALLY_FRAME" val="{&quot;height&quot;:310,&quot;left&quot;:60,&quot;top&quot;:100,&quot;width&quot;:410}"/>
</p:tagLst>
</file>

<file path=ppt/tags/tag28.xml><?xml version="1.0" encoding="utf-8"?>
<p:tagLst xmlns:p="http://schemas.openxmlformats.org/presentationml/2006/main">
  <p:tag name="KSO_WM_DIAGRAM_VIRTUALLY_FRAME" val="{&quot;height&quot;:310,&quot;left&quot;:60,&quot;top&quot;:100,&quot;width&quot;:410}"/>
</p:tagLst>
</file>

<file path=ppt/tags/tag29.xml><?xml version="1.0" encoding="utf-8"?>
<p:tagLst xmlns:p="http://schemas.openxmlformats.org/presentationml/2006/main">
  <p:tag name="KSO_WM_DIAGRAM_VIRTUALLY_FRAME" val="{&quot;height&quot;:310,&quot;left&quot;:60,&quot;top&quot;:100,&quot;width&quot;:410}"/>
</p:tagLst>
</file>

<file path=ppt/tags/tag30.xml><?xml version="1.0" encoding="utf-8"?>
<p:tagLst xmlns:p="http://schemas.openxmlformats.org/presentationml/2006/main">
  <p:tag name="KSO_WM_DIAGRAM_VIRTUALLY_FRAME" val="{&quot;height&quot;:310,&quot;left&quot;:60,&quot;top&quot;:100,&quot;width&quot;:410}"/>
</p:tagLst>
</file>

<file path=ppt/tags/tag31.xml><?xml version="1.0" encoding="utf-8"?>
<p:tagLst xmlns:p="http://schemas.openxmlformats.org/presentationml/2006/main">
  <p:tag name="KSO_WM_DIAGRAM_VIRTUALLY_FRAME" val="{&quot;height&quot;:200,&quot;left&quot;:60,&quot;top&quot;:140,&quot;width&quot;:840}"/>
</p:tagLst>
</file>

<file path=ppt/tags/tag32.xml><?xml version="1.0" encoding="utf-8"?>
<p:tagLst xmlns:p="http://schemas.openxmlformats.org/presentationml/2006/main">
  <p:tag name="KSO_WM_DIAGRAM_VIRTUALLY_FRAME" val="{&quot;height&quot;:200,&quot;left&quot;:60,&quot;top&quot;:140,&quot;width&quot;:840}"/>
</p:tagLst>
</file>

<file path=ppt/tags/tag33.xml><?xml version="1.0" encoding="utf-8"?>
<p:tagLst xmlns:p="http://schemas.openxmlformats.org/presentationml/2006/main">
  <p:tag name="KSO_WM_DIAGRAM_VIRTUALLY_FRAME" val="{&quot;height&quot;:200,&quot;left&quot;:60,&quot;top&quot;:140,&quot;width&quot;:840}"/>
</p:tagLst>
</file>

<file path=ppt/tags/tag34.xml><?xml version="1.0" encoding="utf-8"?>
<p:tagLst xmlns:p="http://schemas.openxmlformats.org/presentationml/2006/main">
  <p:tag name="KSO_WM_DIAGRAM_VIRTUALLY_FRAME" val="{&quot;height&quot;:200,&quot;left&quot;:60,&quot;top&quot;:140,&quot;width&quot;:840}"/>
</p:tagLst>
</file>

<file path=ppt/tags/tag35.xml><?xml version="1.0" encoding="utf-8"?>
<p:tagLst xmlns:p="http://schemas.openxmlformats.org/presentationml/2006/main">
  <p:tag name="KSO_WM_DIAGRAM_VIRTUALLY_FRAME" val="{&quot;height&quot;:200,&quot;left&quot;:60,&quot;top&quot;:140,&quot;width&quot;:840}"/>
</p:tagLst>
</file>

<file path=ppt/tags/tag36.xml><?xml version="1.0" encoding="utf-8"?>
<p:tagLst xmlns:p="http://schemas.openxmlformats.org/presentationml/2006/main">
  <p:tag name="KSO_WM_DIAGRAM_VIRTUALLY_FRAME" val="{&quot;height&quot;:200,&quot;left&quot;:60,&quot;top&quot;:140,&quot;width&quot;:840}"/>
</p:tagLst>
</file>

<file path=ppt/tags/tag37.xml><?xml version="1.0" encoding="utf-8"?>
<p:tagLst xmlns:p="http://schemas.openxmlformats.org/presentationml/2006/main">
  <p:tag name="KSO_WM_DIAGRAM_VIRTUALLY_FRAME" val="{&quot;height&quot;:200,&quot;left&quot;:60,&quot;top&quot;:140,&quot;width&quot;:840}"/>
</p:tagLst>
</file>

<file path=ppt/tags/tag38.xml><?xml version="1.0" encoding="utf-8"?>
<p:tagLst xmlns:p="http://schemas.openxmlformats.org/presentationml/2006/main">
  <p:tag name="KSO_WM_DIAGRAM_VIRTUALLY_FRAME" val="{&quot;height&quot;:200,&quot;left&quot;:60,&quot;top&quot;:140,&quot;width&quot;:840}"/>
</p:tagLst>
</file>

<file path=ppt/tags/tag39.xml><?xml version="1.0" encoding="utf-8"?>
<p:tagLst xmlns:p="http://schemas.openxmlformats.org/presentationml/2006/main">
  <p:tag name="KSO_WM_DIAGRAM_VIRTUALLY_FRAME" val="{&quot;height&quot;:200,&quot;left&quot;:60,&quot;top&quot;:140,&quot;width&quot;:840}"/>
</p:tagLst>
</file>

<file path=ppt/tags/tag40.xml><?xml version="1.0" encoding="utf-8"?>
<p:tagLst xmlns:p="http://schemas.openxmlformats.org/presentationml/2006/main">
  <p:tag name="KSO_WM_DIAGRAM_VIRTUALLY_FRAME" val="{&quot;height&quot;:200,&quot;left&quot;:60,&quot;top&quot;:140,&quot;width&quot;:840}"/>
</p:tagLst>
</file>

<file path=ppt/tags/tag41.xml><?xml version="1.0" encoding="utf-8"?>
<p:tagLst xmlns:p="http://schemas.openxmlformats.org/presentationml/2006/main">
  <p:tag name="KSO_WM_DIAGRAM_VIRTUALLY_FRAME" val="{&quot;height&quot;:200,&quot;left&quot;:60,&quot;top&quot;:140,&quot;width&quot;:840}"/>
</p:tagLst>
</file>

<file path=ppt/tags/tag42.xml><?xml version="1.0" encoding="utf-8"?>
<p:tagLst xmlns:p="http://schemas.openxmlformats.org/presentationml/2006/main">
  <p:tag name="KSO_WM_DIAGRAM_VIRTUALLY_FRAME" val="{&quot;height&quot;:200,&quot;left&quot;:60,&quot;top&quot;:140,&quot;width&quot;:840}"/>
</p:tagLst>
</file>

<file path=ppt/tags/tag43.xml><?xml version="1.0" encoding="utf-8"?>
<p:tagLst xmlns:p="http://schemas.openxmlformats.org/presentationml/2006/main">
  <p:tag name="KSO_WM_DIAGRAM_VIRTUALLY_FRAME" val="{&quot;height&quot;:268,&quot;left&quot;:60,&quot;top&quot;:120,&quot;width&quot;:840}"/>
</p:tagLst>
</file>

<file path=ppt/tags/tag44.xml><?xml version="1.0" encoding="utf-8"?>
<p:tagLst xmlns:p="http://schemas.openxmlformats.org/presentationml/2006/main">
  <p:tag name="KSO_WM_DIAGRAM_VIRTUALLY_FRAME" val="{&quot;height&quot;:268,&quot;left&quot;:60,&quot;top&quot;:120,&quot;width&quot;:840}"/>
</p:tagLst>
</file>

<file path=ppt/tags/tag45.xml><?xml version="1.0" encoding="utf-8"?>
<p:tagLst xmlns:p="http://schemas.openxmlformats.org/presentationml/2006/main">
  <p:tag name="KSO_WM_DIAGRAM_VIRTUALLY_FRAME" val="{&quot;height&quot;:268,&quot;left&quot;:60,&quot;top&quot;:120,&quot;width&quot;:840}"/>
</p:tagLst>
</file>

<file path=ppt/tags/tag46.xml><?xml version="1.0" encoding="utf-8"?>
<p:tagLst xmlns:p="http://schemas.openxmlformats.org/presentationml/2006/main">
  <p:tag name="KSO_WM_DIAGRAM_VIRTUALLY_FRAME" val="{&quot;height&quot;:268,&quot;left&quot;:60,&quot;top&quot;:120,&quot;width&quot;:840}"/>
</p:tagLst>
</file>

<file path=ppt/tags/tag47.xml><?xml version="1.0" encoding="utf-8"?>
<p:tagLst xmlns:p="http://schemas.openxmlformats.org/presentationml/2006/main">
  <p:tag name="KSO_WM_DIAGRAM_VIRTUALLY_FRAME" val="{&quot;height&quot;:268,&quot;left&quot;:60,&quot;top&quot;:120,&quot;width&quot;:840}"/>
</p:tagLst>
</file>

<file path=ppt/tags/tag48.xml><?xml version="1.0" encoding="utf-8"?>
<p:tagLst xmlns:p="http://schemas.openxmlformats.org/presentationml/2006/main">
  <p:tag name="KSO_WM_DIAGRAM_VIRTUALLY_FRAME" val="{&quot;height&quot;:268,&quot;left&quot;:60,&quot;top&quot;:120,&quot;width&quot;:840}"/>
</p:tagLst>
</file>

<file path=ppt/tags/tag49.xml><?xml version="1.0" encoding="utf-8"?>
<p:tagLst xmlns:p="http://schemas.openxmlformats.org/presentationml/2006/main">
  <p:tag name="KSO_WM_DIAGRAM_VIRTUALLY_FRAME" val="{&quot;height&quot;:268,&quot;left&quot;:60,&quot;top&quot;:120,&quot;width&quot;:840}"/>
</p:tagLst>
</file>

<file path=ppt/tags/tag50.xml><?xml version="1.0" encoding="utf-8"?>
<p:tagLst xmlns:p="http://schemas.openxmlformats.org/presentationml/2006/main">
  <p:tag name="KSO_WM_DIAGRAM_VIRTUALLY_FRAME" val="{&quot;height&quot;:268,&quot;left&quot;:60,&quot;top&quot;:120,&quot;width&quot;:840}"/>
</p:tagLst>
</file>

<file path=ppt/tags/tag51.xml><?xml version="1.0" encoding="utf-8"?>
<p:tagLst xmlns:p="http://schemas.openxmlformats.org/presentationml/2006/main">
  <p:tag name="KSO_WM_DIAGRAM_VIRTUALLY_FRAME" val="{&quot;height&quot;:268,&quot;left&quot;:60,&quot;top&quot;:120,&quot;width&quot;:840}"/>
</p:tagLst>
</file>

<file path=ppt/tags/tag52.xml><?xml version="1.0" encoding="utf-8"?>
<p:tagLst xmlns:p="http://schemas.openxmlformats.org/presentationml/2006/main">
  <p:tag name="KSO_WM_DIAGRAM_VIRTUALLY_FRAME" val="{&quot;height&quot;:268,&quot;left&quot;:60,&quot;top&quot;:120,&quot;width&quot;:840}"/>
</p:tagLst>
</file>

<file path=ppt/tags/tag53.xml><?xml version="1.0" encoding="utf-8"?>
<p:tagLst xmlns:p="http://schemas.openxmlformats.org/presentationml/2006/main">
  <p:tag name="KSO_WM_DIAGRAM_VIRTUALLY_FRAME" val="{&quot;height&quot;:268,&quot;left&quot;:60,&quot;top&quot;:120,&quot;width&quot;:840}"/>
</p:tagLst>
</file>

<file path=ppt/tags/tag54.xml><?xml version="1.0" encoding="utf-8"?>
<p:tagLst xmlns:p="http://schemas.openxmlformats.org/presentationml/2006/main">
  <p:tag name="KSO_WM_DIAGRAM_VIRTUALLY_FRAME" val="{&quot;height&quot;:268,&quot;left&quot;:60,&quot;top&quot;:120,&quot;width&quot;:840}"/>
</p:tagLst>
</file>

<file path=ppt/tags/tag55.xml><?xml version="1.0" encoding="utf-8"?>
<p:tagLst xmlns:p="http://schemas.openxmlformats.org/presentationml/2006/main">
  <p:tag name="KSO_WM_DIAGRAM_VIRTUALLY_FRAME" val="{&quot;height&quot;:268,&quot;left&quot;:60,&quot;top&quot;:120,&quot;width&quot;:840}"/>
</p:tagLst>
</file>

<file path=ppt/tags/tag56.xml><?xml version="1.0" encoding="utf-8"?>
<p:tagLst xmlns:p="http://schemas.openxmlformats.org/presentationml/2006/main">
  <p:tag name="KSO_WM_DIAGRAM_VIRTUALLY_FRAME" val="{&quot;height&quot;:268,&quot;left&quot;:60,&quot;top&quot;:120,&quot;width&quot;:840}"/>
</p:tagLst>
</file>

<file path=ppt/tags/tag57.xml><?xml version="1.0" encoding="utf-8"?>
<p:tagLst xmlns:p="http://schemas.openxmlformats.org/presentationml/2006/main">
  <p:tag name="KSO_WM_DIAGRAM_VIRTUALLY_FRAME" val="{&quot;height&quot;:268,&quot;left&quot;:60,&quot;top&quot;:120,&quot;width&quot;:840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717</Words>
  <Application>WPS 演示</Application>
  <PresentationFormat/>
  <Paragraphs>104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7</vt:i4>
      </vt:variant>
    </vt:vector>
  </HeadingPairs>
  <TitlesOfParts>
    <vt:vector size="17" baseType="lpstr">
      <vt:lpstr>Arial</vt:lpstr>
      <vt:lpstr>宋体</vt:lpstr>
      <vt:lpstr>Wingdings</vt:lpstr>
      <vt:lpstr>Arial</vt:lpstr>
      <vt:lpstr>Noto Sans SC</vt:lpstr>
      <vt:lpstr>微软雅黑</vt:lpstr>
      <vt:lpstr>Arial Unicode MS</vt:lpstr>
      <vt:lpstr>Office 主题​​</vt:lpstr>
      <vt:lpstr>默认主题</vt:lpstr>
      <vt:lpstr>1_默认主题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landscape</cp:lastModifiedBy>
  <cp:revision>93</cp:revision>
  <dcterms:created xsi:type="dcterms:W3CDTF">2026-03-14T07:38:00Z</dcterms:created>
  <dcterms:modified xsi:type="dcterms:W3CDTF">2026-03-17T05:19:11Z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3B2D4A994DD9490C8471862C4C95C111_12</vt:lpwstr>
  </property>
  <property fmtid="{D5CDD505-2E9C-101B-9397-08002B2CF9AE}" pid="3" name="KSOProductBuildVer">
    <vt:lpwstr>2052-12.1.0.25225</vt:lpwstr>
  </property>
</Properties>
</file>