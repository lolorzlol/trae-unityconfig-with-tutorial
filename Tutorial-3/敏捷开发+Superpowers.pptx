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70" r:id="rId16"/>
    <p:sldId id="268" r:id="rId17"/>
    <p:sldId id="269" r:id="rId18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645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敏捷开发 + Superpowers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2F2F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AI工作流实践指南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36454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插件概述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</a:rPr>
              <a:t>之前说过 </a:t>
            </a:r>
            <a:r>
              <a:rPr lang="en-US" sz="1600" b="1" dirty="0">
                <a:solidFill>
                  <a:srgbClr val="36454F"/>
                </a:solidFill>
              </a:rPr>
              <a:t>skill</a:t>
            </a:r>
            <a:r>
              <a:rPr lang="en-US" sz="1600" dirty="0">
                <a:solidFill>
                  <a:srgbClr val="212121"/>
                </a:solidFill>
              </a:rPr>
              <a:t>、</a:t>
            </a:r>
            <a:r>
              <a:rPr lang="en-US" sz="1600" b="1" dirty="0">
                <a:solidFill>
                  <a:srgbClr val="36454F"/>
                </a:solidFill>
              </a:rPr>
              <a:t>AGENTS.md</a:t>
            </a:r>
            <a:r>
              <a:rPr lang="en-US" sz="1600" dirty="0">
                <a:solidFill>
                  <a:srgbClr val="212121"/>
                </a:solidFill>
              </a:rPr>
              <a:t> 还有 </a:t>
            </a:r>
            <a:r>
              <a:rPr lang="en-US" sz="1600" b="1" dirty="0">
                <a:solidFill>
                  <a:srgbClr val="36454F"/>
                </a:solidFill>
              </a:rPr>
              <a:t>MCP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2000" b="1" dirty="0">
                <a:solidFill>
                  <a:srgbClr val="36454F"/>
                </a:solidFill>
              </a:rPr>
              <a:t>插件 = 整合所有配置的完整方案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</a:rPr>
              <a:t>插件可以包含：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</a:rPr>
              <a:t>Skills（技能/工作流）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</a:rPr>
              <a:t>AGENTS.md（项目指令文件）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</a:rPr>
              <a:t>MCP配置（外部工具连接）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</a:rPr>
              <a:t>其他项目配置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36454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Harness 概念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4114800" cy="3200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6454F"/>
                </a:solidFill>
              </a:rPr>
              <a:t>什么是 Harness？</a:t>
            </a:r>
            <a:endParaRPr lang="en-US" sz="1800" dirty="0"/>
          </a:p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</a:rPr>
              <a:t>Harness 本意是驾驭或骑马的动词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</a:rPr>
              <a:t>AI类比：AI是能力强大的马，人需要用工程配置去驾驭它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36454F"/>
                </a:solidFill>
              </a:rPr>
              <a:t>Superpowers插件 = 一个非常有效的AI流程控制Harness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754880" y="1097280"/>
            <a:ext cx="39319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645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为什么需要 Harness？</a:t>
            </a:r>
            <a:endParaRPr lang="en-US" sz="1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/>
        </p:nvGraphicFramePr>
        <p:xfrm>
          <a:off x="4754880" y="1554480"/>
          <a:ext cx="3931920" cy="2286000"/>
        </p:xfrm>
        <a:graphic>
          <a:graphicData uri="http://schemas.openxmlformats.org/drawingml/2006/table">
            <a:tbl>
              <a:tblPr/>
              <a:tblGrid>
                <a:gridCol w="1965960"/>
                <a:gridCol w="1965960"/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问题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解决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AI输出不稳定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工作流约束行为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AI容易跑偏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阶段性检查点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AI缺乏上下文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配置文件提供指令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AI无法调用工具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MCP扩展能力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36454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敏捷开发回顾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6454F"/>
                </a:solidFill>
              </a:rPr>
              <a:t>核心问题</a:t>
            </a:r>
            <a:endParaRPr lang="en-US" sz="1800" dirty="0"/>
          </a:p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</a:rPr>
              <a:t>软件工程经常面对需求变更，代码修改频繁</a:t>
            </a:r>
            <a:endParaRPr lang="en-US" sz="1800" dirty="0"/>
          </a:p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</a:rPr>
              <a:t>如何确保系统健壮性和可维护性？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36454F"/>
                </a:solidFill>
              </a:rPr>
              <a:t>敏捷核心原则</a:t>
            </a:r>
            <a:endParaRPr lang="en-US" sz="1800" dirty="0"/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rgbClr val="212121"/>
                </a:solidFill>
              </a:rPr>
              <a:t>迭代开发 — 小步快跑，持续交付</a:t>
            </a:r>
            <a:endParaRPr lang="en-US" sz="1800" dirty="0"/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rgbClr val="212121"/>
                </a:solidFill>
              </a:rPr>
              <a:t>响应变化 — 欢迎需求变更</a:t>
            </a:r>
            <a:endParaRPr lang="en-US" sz="1800" dirty="0"/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rgbClr val="212121"/>
                </a:solidFill>
              </a:rPr>
              <a:t>团队协作 — 每日沟通，透明进度</a:t>
            </a:r>
            <a:endParaRPr lang="en-US" sz="1800" dirty="0"/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rgbClr val="212121"/>
                </a:solidFill>
              </a:rPr>
              <a:t>持续改进 — 定期复盘，优化流程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36454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Sprint 简介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4114800" cy="3200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6454F"/>
                </a:solidFill>
              </a:rPr>
              <a:t>Sprint = 敏捷开发中的冲刺周期</a:t>
            </a:r>
            <a:endParaRPr lang="en-US" sz="2000" dirty="0"/>
          </a:p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</a:rPr>
              <a:t>通常是 1-2周 的固定开发周期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1800" b="1" dirty="0">
                <a:solidFill>
                  <a:srgbClr val="36454F"/>
                </a:solidFill>
              </a:rPr>
              <a:t>Sprint 目标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</a:rPr>
              <a:t>明确范围 — 只做计划内的事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</a:rPr>
              <a:t>可交付成果 — Sprint结束必须有可测试的成果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</a:rPr>
              <a:t>快速反馈 — 尽早发现问题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754880" y="1371600"/>
            <a:ext cx="3931920" cy="2560320"/>
          </a:xfrm>
          <a:prstGeom prst="rect">
            <a:avLst/>
          </a:prstGeom>
          <a:solidFill>
            <a:srgbClr val="F2F2F2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937760" y="1463040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645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Sprint 结构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0" y="1920240"/>
            <a:ext cx="3657600" cy="1828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</a:rPr>
              <a:t>需求分析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</a:rPr>
              <a:t>Day 1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</a:rPr>
              <a:t>方案设计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</a:rPr>
              <a:t>Day 1-2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</a:rPr>
              <a:t>开发实现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</a:rPr>
              <a:t>Day 2-5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</a:rPr>
              <a:t>测试验收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</a:rPr>
              <a:t>Day 5-结束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36454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测试驱动开发 (TDD)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4114800" cy="3200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6454F"/>
                </a:solidFill>
              </a:rPr>
              <a:t>先写测试，再写代码让测试通过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1800" b="1" dirty="0">
                <a:solidFill>
                  <a:srgbClr val="36454F"/>
                </a:solidFill>
              </a:rPr>
              <a:t>TDD 好处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</a:rPr>
              <a:t>需求对齐 — 测试写完 = 需求确定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212121"/>
                </a:solidFill>
              </a:rPr>
              <a:t>测试防护网</a:t>
            </a:r>
            <a:r>
              <a:rPr lang="en-US" sz="1600" dirty="0">
                <a:solidFill>
                  <a:srgbClr val="212121"/>
                </a:solidFill>
              </a:rPr>
              <a:t> — 提供修改保障，支持重构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</a:rPr>
              <a:t>设计驱动 — 先思考接口，后实现细节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</a:rPr>
              <a:t>文档作用 — 测试即行为文档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754880" y="1097280"/>
            <a:ext cx="3931920" cy="3200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6454F"/>
                </a:solidFill>
              </a:rPr>
              <a:t>为什么AI Harness都用TDD？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</a:rPr>
              <a:t>AI写代码成本低，在有测试防护网的前提下：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</a:rPr>
              <a:t>可以轻易重构代码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</a:rPr>
              <a:t>可以安全扩展功能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</a:rPr>
              <a:t>AI错误可以被测试捕获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36454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Red-Green-Refactor 循环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371600" y="1371600"/>
            <a:ext cx="2286000" cy="1097280"/>
          </a:xfrm>
          <a:prstGeom prst="rect">
            <a:avLst/>
          </a:prstGeom>
          <a:solidFill>
            <a:srgbClr val="DC2626"/>
          </a:solidFill>
        </p:spPr>
      </p:sp>
      <p:sp>
        <p:nvSpPr>
          <p:cNvPr id="4" name="Text 2"/>
          <p:cNvSpPr/>
          <p:nvPr/>
        </p:nvSpPr>
        <p:spPr>
          <a:xfrm>
            <a:off x="1371600" y="1463040"/>
            <a:ext cx="2286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Red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71600" y="1920240"/>
            <a:ext cx="2286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写一个失败的测试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0" y="2560320"/>
            <a:ext cx="2286000" cy="1097280"/>
          </a:xfrm>
          <a:prstGeom prst="rect">
            <a:avLst/>
          </a:prstGeom>
          <a:solidFill>
            <a:srgbClr val="059669"/>
          </a:solidFill>
        </p:spPr>
      </p:sp>
      <p:sp>
        <p:nvSpPr>
          <p:cNvPr id="7" name="Text 5"/>
          <p:cNvSpPr/>
          <p:nvPr/>
        </p:nvSpPr>
        <p:spPr>
          <a:xfrm>
            <a:off x="3657600" y="2651760"/>
            <a:ext cx="2286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Green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657600" y="3108960"/>
            <a:ext cx="2286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写最少代码让测试通过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943600" y="1371600"/>
            <a:ext cx="2286000" cy="1097280"/>
          </a:xfrm>
          <a:prstGeom prst="rect">
            <a:avLst/>
          </a:prstGeom>
          <a:solidFill>
            <a:srgbClr val="36454F"/>
          </a:solidFill>
        </p:spPr>
      </p:sp>
      <p:sp>
        <p:nvSpPr>
          <p:cNvPr id="10" name="Text 8"/>
          <p:cNvSpPr/>
          <p:nvPr/>
        </p:nvSpPr>
        <p:spPr>
          <a:xfrm>
            <a:off x="5943600" y="1463040"/>
            <a:ext cx="2286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Refactor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943600" y="1920240"/>
            <a:ext cx="2286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重构代码，保持测试通过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0" y="2011680"/>
            <a:ext cx="0" cy="548640"/>
          </a:xfrm>
          <a:prstGeom prst="line">
            <a:avLst/>
          </a:prstGeom>
          <a:noFill/>
          <a:ln w="25400">
            <a:solidFill>
              <a:srgbClr val="21212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43600" y="2468880"/>
            <a:ext cx="0" cy="640080"/>
          </a:xfrm>
          <a:prstGeom prst="line">
            <a:avLst/>
          </a:prstGeom>
          <a:noFill/>
          <a:ln w="25400">
            <a:solidFill>
              <a:srgbClr val="21212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0" y="1920240"/>
            <a:ext cx="5029200" cy="0"/>
          </a:xfrm>
          <a:prstGeom prst="line">
            <a:avLst/>
          </a:prstGeom>
          <a:noFill/>
          <a:ln w="25400">
            <a:solidFill>
              <a:srgbClr val="212121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4114800" y="3840480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重复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36454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Superpowers 工作流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1828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6454F"/>
                </a:solidFill>
              </a:rPr>
              <a:t>Superpowers 是什么？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</a:rPr>
              <a:t>一整套让AI从 </a:t>
            </a:r>
            <a:r>
              <a:rPr lang="en-US" sz="1600" b="1" dirty="0">
                <a:solidFill>
                  <a:srgbClr val="36454F"/>
                </a:solidFill>
              </a:rPr>
              <a:t>需求分析</a:t>
            </a:r>
            <a:r>
              <a:rPr lang="en-US" sz="1600" dirty="0">
                <a:solidFill>
                  <a:srgbClr val="212121"/>
                </a:solidFill>
              </a:rPr>
              <a:t> 到 </a:t>
            </a:r>
            <a:r>
              <a:rPr lang="en-US" sz="1600" b="1" dirty="0">
                <a:solidFill>
                  <a:srgbClr val="36454F"/>
                </a:solidFill>
              </a:rPr>
              <a:t>测试驱动开发</a:t>
            </a:r>
            <a:r>
              <a:rPr lang="en-US" sz="1600" dirty="0">
                <a:solidFill>
                  <a:srgbClr val="212121"/>
                </a:solidFill>
              </a:rPr>
              <a:t> 的完整工作流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</a:rPr>
              <a:t>内部由多个互相串联的skill组成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36454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核心技能说明</a:t>
            </a:r>
            <a:endParaRPr lang="en-US" sz="3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/>
        </p:nvGraphicFramePr>
        <p:xfrm>
          <a:off x="457200" y="1097280"/>
          <a:ext cx="8229600" cy="3474723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49638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技能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用途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触发场景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using-superpowers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入口判断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每次对话开始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brainstorming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头脑风暴/需求分析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创建新功能时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writing-plans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编写实现计划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brainstorming后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executing-plans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执行实现计划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计划确认后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test-driven-development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TDD流程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实现功能时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systematic-debugging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系统化调试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遇到Bug时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36454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Sprint 与 Superpowers 对照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645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一个Sprint ≈ 一个Superpowers循环</a:t>
            </a:r>
            <a:endParaRPr lang="en-US" sz="1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/>
        </p:nvGraphicFramePr>
        <p:xfrm>
          <a:off x="457200" y="1463040"/>
          <a:ext cx="8229600" cy="310896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4441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Sprint阶段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Superpowers技能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需求分析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brainstorming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方案设计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writing-plans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开发实现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executing-plans + TDD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测试验收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测试运行 + verification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Bug修复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systematic-debugging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复盘优化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receiving-code-review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36454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TDD 实践示例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645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示例场景：开发玩家移动功能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743200" cy="1828800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54480"/>
            <a:ext cx="2560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Step 1: Red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256032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</a:rPr>
              <a:t>写失败测试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[Test]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</a:rPr>
              <a:t>Player_MoveRight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DC2626"/>
                </a:solidFill>
              </a:rPr>
              <a:t>测试失败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0" y="1463040"/>
            <a:ext cx="2743200" cy="1828800"/>
          </a:xfrm>
          <a:prstGeom prst="rect">
            <a:avLst/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91840" y="1554480"/>
            <a:ext cx="2560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Step 2: Green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291840" y="1828800"/>
            <a:ext cx="256032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</a:rPr>
              <a:t>最小实现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</a:rPr>
              <a:t>Position += direction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059669"/>
                </a:solidFill>
              </a:rPr>
              <a:t>测试通过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0" y="1463040"/>
            <a:ext cx="2743200" cy="1828800"/>
          </a:xfrm>
          <a:prstGeom prst="rect">
            <a:avLst/>
          </a:prstGeom>
          <a:solidFill>
            <a:srgbClr val="F2F2F2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35040" y="1554480"/>
            <a:ext cx="2560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645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Step 3: Refactor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035040" y="1828800"/>
            <a:ext cx="256032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</a:rPr>
              <a:t>优化代码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</a:rPr>
              <a:t>加入 moveSpeed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36454F"/>
                </a:solidFill>
              </a:rPr>
              <a:t>测试仍然通过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36454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AI 使用建议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121"/>
                </a:solidFill>
              </a:rPr>
              <a:t>AI就像自动驾驶，想要多大程度用它取决于自己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800" b="1" dirty="0">
                <a:solidFill>
                  <a:srgbClr val="36454F"/>
                </a:solidFill>
              </a:rPr>
              <a:t>建议至少使用AI的环节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rgbClr val="212121"/>
                </a:solidFill>
              </a:rPr>
              <a:t>方案确认 → superpowers的 brainstorming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</a:rPr>
              <a:t>    AI擅长发散思考，提出多种方案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</a:rPr>
              <a:t>    人工做最终决策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rgbClr val="212121"/>
                </a:solidFill>
              </a:rPr>
              <a:t>解Bug → superpowers的 systematic-debugging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</a:rPr>
              <a:t>    AI可以快速定位问题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</a:rPr>
              <a:t>    系统化分析比盲目尝试更高效</a:t>
            </a:r>
            <a:endParaRPr lang="en-US" sz="1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/>
        </p:nvGraphicFramePr>
        <p:xfrm>
          <a:off x="5016500" y="269875"/>
          <a:ext cx="3931920" cy="1828800"/>
        </p:xfrm>
        <a:graphic>
          <a:graphicData uri="http://schemas.openxmlformats.org/drawingml/2006/table">
            <a:tbl>
              <a:tblPr/>
              <a:tblGrid>
                <a:gridCol w="1965960"/>
                <a:gridCol w="1965960"/>
              </a:tblGrid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级别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使用方式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Level 3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所有代码AI生成，人工审核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Level 2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AI处理部分功能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42900"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Level 1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en-US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AI</a:t>
                      </a:r>
                      <a:r>
                        <a:rPr lang="zh-CN" altLang="en-US" sz="1200" dirty="0"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询问</a:t>
                      </a:r>
                      <a:r>
                        <a:rPr lang="en-US" altLang="zh-CN" sz="1200" dirty="0"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+</a:t>
                      </a:r>
                      <a:r>
                        <a:rPr lang="zh-CN" altLang="en-US" sz="1200" dirty="0"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查资料</a:t>
                      </a:r>
                      <a:endParaRPr lang="zh-CN" altLang="en-US" sz="1200" dirty="0">
                        <a:latin typeface="Calibri" panose="020F0502020204030204" pitchFamily="34" charset="0"/>
                        <a:ea typeface="宋体" panose="02010600030101010101" pitchFamily="2" charset="-122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Level 0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完全不用AI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2095" y="915670"/>
            <a:ext cx="8957945" cy="125539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36454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总结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6454F"/>
                </a:solidFill>
              </a:rPr>
              <a:t>敏捷 + Superpowers = 高效AI开发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1800" b="1" dirty="0">
                <a:solidFill>
                  <a:srgbClr val="36454F"/>
                </a:solidFill>
              </a:rPr>
              <a:t>关键要点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rgbClr val="212121"/>
                </a:solidFill>
              </a:rPr>
              <a:t>Harness是驾驭AI的工程配置</a:t>
            </a:r>
            <a:endParaRPr lang="en-US" sz="2000" dirty="0"/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rgbClr val="212121"/>
                </a:solidFill>
              </a:rPr>
              <a:t>TDD是AI开发的安全基础</a:t>
            </a:r>
            <a:endParaRPr lang="en-US" sz="2000" dirty="0"/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rgbClr val="212121"/>
                </a:solidFill>
              </a:rPr>
              <a:t>Superpowers提供完整工作流</a:t>
            </a:r>
            <a:endParaRPr lang="en-US" sz="2000" dirty="0"/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rgbClr val="212121"/>
                </a:solidFill>
              </a:rPr>
              <a:t>人仍然需要做关键决策</a:t>
            </a: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645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Q &amp; A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2F2F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欢迎提问和讨论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1770</Words>
  <Application>WPS 演示</Application>
  <PresentationFormat>On-screen Show (16:9)</PresentationFormat>
  <Paragraphs>276</Paragraphs>
  <Slides>15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8" baseType="lpstr">
      <vt:lpstr>Arial</vt:lpstr>
      <vt:lpstr>宋体</vt:lpstr>
      <vt:lpstr>Wingdings</vt:lpstr>
      <vt:lpstr>Georgia</vt:lpstr>
      <vt:lpstr>Georgia</vt:lpstr>
      <vt:lpstr>Georgia</vt:lpstr>
      <vt:lpstr>Calibri</vt:lpstr>
      <vt:lpstr>Calibri</vt:lpstr>
      <vt:lpstr>Calibri</vt:lpstr>
      <vt:lpstr>微软雅黑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敏捷开发 + Superpowers AI工作流</dc:title>
  <dc:creator>Tutorial</dc:creator>
  <dc:subject>PptxGenJS Presentation</dc:subject>
  <cp:lastModifiedBy>landscape</cp:lastModifiedBy>
  <cp:revision>5</cp:revision>
  <dcterms:created xsi:type="dcterms:W3CDTF">2026-04-09T11:15:00Z</dcterms:created>
  <dcterms:modified xsi:type="dcterms:W3CDTF">2026-04-10T00:16:20Z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2A6A616090264E219340FEE39381CE34_12</vt:lpwstr>
  </property>
  <property fmtid="{D5CDD505-2E9C-101B-9397-08002B2CF9AE}" pid="3" name="KSOProductBuildVer">
    <vt:lpwstr>2052-12.1.0.25225</vt:lpwstr>
  </property>
</Properties>
</file>